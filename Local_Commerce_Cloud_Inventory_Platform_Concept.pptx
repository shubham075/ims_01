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c2b081baad409b" /><Relationship Type="http://schemas.openxmlformats.org/officeDocument/2006/relationships/extended-properties" Target="/docProps/app.xml" Id="R7dfb6a8129234b3a" /><Relationship Type="http://schemas.openxmlformats.org/officeDocument/2006/relationships/officeDocument" Target="/ppt/presentation.xml" Id="Re1f9668b684145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ff58edb7a04ee7"/>
  </p:sldMasterIdLst>
  <p:notesMasterIdLst>
    <p:notesMasterId xmlns:r="http://schemas.openxmlformats.org/officeDocument/2006/relationships" r:id="R0c47ab090aaa4e5b"/>
  </p:notesMasterIdLst>
  <p:sldIdLst>
    <p:sldId xmlns:r="http://schemas.openxmlformats.org/officeDocument/2006/relationships" id="256" r:id="Rd54da0b165604477"/>
    <p:sldId xmlns:r="http://schemas.openxmlformats.org/officeDocument/2006/relationships" id="257" r:id="R1ecbd8ce8a864f76"/>
    <p:sldId xmlns:r="http://schemas.openxmlformats.org/officeDocument/2006/relationships" id="258" r:id="R1493317a8ef14c20"/>
    <p:sldId xmlns:r="http://schemas.openxmlformats.org/officeDocument/2006/relationships" id="259" r:id="R66134f25c4f84025"/>
    <p:sldId xmlns:r="http://schemas.openxmlformats.org/officeDocument/2006/relationships" id="260" r:id="R03b6ef3352634fc8"/>
    <p:sldId xmlns:r="http://schemas.openxmlformats.org/officeDocument/2006/relationships" id="261" r:id="R5e421dd981444261"/>
    <p:sldId xmlns:r="http://schemas.openxmlformats.org/officeDocument/2006/relationships" id="262" r:id="R26e28c8db1e84b9b"/>
    <p:sldId xmlns:r="http://schemas.openxmlformats.org/officeDocument/2006/relationships" id="263" r:id="Raeef623e2f13463f"/>
    <p:sldId xmlns:r="http://schemas.openxmlformats.org/officeDocument/2006/relationships" id="264" r:id="R204677e826e1458d"/>
    <p:sldId xmlns:r="http://schemas.openxmlformats.org/officeDocument/2006/relationships" id="265" r:id="R34a07a66d3d84502"/>
    <p:sldId xmlns:r="http://schemas.openxmlformats.org/officeDocument/2006/relationships" id="266" r:id="R0609e8cb5973441c"/>
    <p:sldId xmlns:r="http://schemas.openxmlformats.org/officeDocument/2006/relationships" id="267" r:id="R2017be2e9d944523"/>
    <p:sldId xmlns:r="http://schemas.openxmlformats.org/officeDocument/2006/relationships" id="268" r:id="R9455793fb43943bd"/>
    <p:sldId xmlns:r="http://schemas.openxmlformats.org/officeDocument/2006/relationships" id="269" r:id="Rc02e0f1fb67d4d0a"/>
    <p:sldId xmlns:r="http://schemas.openxmlformats.org/officeDocument/2006/relationships" id="270" r:id="R8f28cbb73a6c4c87"/>
    <p:sldId xmlns:r="http://schemas.openxmlformats.org/officeDocument/2006/relationships" id="271" r:id="R42f526451da14f31"/>
    <p:sldId xmlns:r="http://schemas.openxmlformats.org/officeDocument/2006/relationships" id="272" r:id="R7f98de6e716b4d4a"/>
    <p:sldId xmlns:r="http://schemas.openxmlformats.org/officeDocument/2006/relationships" id="273" r:id="Rfd61174de68140af"/>
    <p:sldId xmlns:r="http://schemas.openxmlformats.org/officeDocument/2006/relationships" id="274" r:id="Rd47d452b01eb4951"/>
    <p:sldId xmlns:r="http://schemas.openxmlformats.org/officeDocument/2006/relationships" id="275" r:id="Rbf1fcc8f8c6e43b4"/>
    <p:sldId xmlns:r="http://schemas.openxmlformats.org/officeDocument/2006/relationships" id="276" r:id="R49a1a87994c74968"/>
    <p:sldId xmlns:r="http://schemas.openxmlformats.org/officeDocument/2006/relationships" id="277" r:id="R251f3383ac4c48c5"/>
    <p:sldId xmlns:r="http://schemas.openxmlformats.org/officeDocument/2006/relationships" id="278" r:id="R2854c9b8e1874068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9f6652afef4e37" /><Relationship Type="http://schemas.openxmlformats.org/officeDocument/2006/relationships/slideMaster" Target="/ppt/slideMasters/slideMaster1.xml" Id="R8bff58edb7a04ee7" /><Relationship Type="http://schemas.openxmlformats.org/officeDocument/2006/relationships/notesMaster" Target="/ppt/notesMasters/notesMaster1.xml" Id="R0c47ab090aaa4e5b" /><Relationship Type="http://schemas.openxmlformats.org/officeDocument/2006/relationships/presProps" Target="/ppt/presProps.xml" Id="Rf8eab787efa2447d" /><Relationship Type="http://schemas.openxmlformats.org/officeDocument/2006/relationships/viewProps" Target="/ppt/viewProps.xml" Id="R67be48314ec84768" /><Relationship Type="http://schemas.openxmlformats.org/officeDocument/2006/relationships/tableStyles" Target="/ppt/tableStyles.xml" Id="R57c363a88e2e458a" /><Relationship Type="http://schemas.openxmlformats.org/officeDocument/2006/relationships/slide" Target="/ppt/slides/slide1.xml" Id="Rd54da0b165604477" /><Relationship Type="http://schemas.openxmlformats.org/officeDocument/2006/relationships/slide" Target="/ppt/slides/slide2.xml" Id="R1ecbd8ce8a864f76" /><Relationship Type="http://schemas.openxmlformats.org/officeDocument/2006/relationships/slide" Target="/ppt/slides/slide3.xml" Id="R1493317a8ef14c20" /><Relationship Type="http://schemas.openxmlformats.org/officeDocument/2006/relationships/slide" Target="/ppt/slides/slide4.xml" Id="R66134f25c4f84025" /><Relationship Type="http://schemas.openxmlformats.org/officeDocument/2006/relationships/slide" Target="/ppt/slides/slide5.xml" Id="R03b6ef3352634fc8" /><Relationship Type="http://schemas.openxmlformats.org/officeDocument/2006/relationships/slide" Target="/ppt/slides/slide6.xml" Id="R5e421dd981444261" /><Relationship Type="http://schemas.openxmlformats.org/officeDocument/2006/relationships/slide" Target="/ppt/slides/slide7.xml" Id="R26e28c8db1e84b9b" /><Relationship Type="http://schemas.openxmlformats.org/officeDocument/2006/relationships/slide" Target="/ppt/slides/slide8.xml" Id="Raeef623e2f13463f" /><Relationship Type="http://schemas.openxmlformats.org/officeDocument/2006/relationships/slide" Target="/ppt/slides/slide9.xml" Id="R204677e826e1458d" /><Relationship Type="http://schemas.openxmlformats.org/officeDocument/2006/relationships/slide" Target="/ppt/slides/slide10.xml" Id="R34a07a66d3d84502" /><Relationship Type="http://schemas.openxmlformats.org/officeDocument/2006/relationships/slide" Target="/ppt/slides/slide11.xml" Id="R0609e8cb5973441c" /><Relationship Type="http://schemas.openxmlformats.org/officeDocument/2006/relationships/slide" Target="/ppt/slides/slide12.xml" Id="R2017be2e9d944523" /><Relationship Type="http://schemas.openxmlformats.org/officeDocument/2006/relationships/slide" Target="/ppt/slides/slide13.xml" Id="R9455793fb43943bd" /><Relationship Type="http://schemas.openxmlformats.org/officeDocument/2006/relationships/slide" Target="/ppt/slides/slide14.xml" Id="Rc02e0f1fb67d4d0a" /><Relationship Type="http://schemas.openxmlformats.org/officeDocument/2006/relationships/slide" Target="/ppt/slides/slide15.xml" Id="R8f28cbb73a6c4c87" /><Relationship Type="http://schemas.openxmlformats.org/officeDocument/2006/relationships/slide" Target="/ppt/slides/slide16.xml" Id="R42f526451da14f31" /><Relationship Type="http://schemas.openxmlformats.org/officeDocument/2006/relationships/slide" Target="/ppt/slides/slide17.xml" Id="R7f98de6e716b4d4a" /><Relationship Type="http://schemas.openxmlformats.org/officeDocument/2006/relationships/slide" Target="/ppt/slides/slide18.xml" Id="Rfd61174de68140af" /><Relationship Type="http://schemas.openxmlformats.org/officeDocument/2006/relationships/slide" Target="/ppt/slides/slide19.xml" Id="Rd47d452b01eb4951" /><Relationship Type="http://schemas.openxmlformats.org/officeDocument/2006/relationships/slide" Target="/ppt/slides/slide20.xml" Id="Rbf1fcc8f8c6e43b4" /><Relationship Type="http://schemas.openxmlformats.org/officeDocument/2006/relationships/slide" Target="/ppt/slides/slide21.xml" Id="R49a1a87994c74968" /><Relationship Type="http://schemas.openxmlformats.org/officeDocument/2006/relationships/slide" Target="/ppt/slides/slide22.xml" Id="R251f3383ac4c48c5" /><Relationship Type="http://schemas.openxmlformats.org/officeDocument/2006/relationships/slide" Target="/ppt/slides/slide23.xml" Id="R2854c9b8e18740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aa0b58320946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dc29dcec3248d0" /><Relationship Type="http://schemas.openxmlformats.org/officeDocument/2006/relationships/notesMaster" Target="/ppt/notesMasters/notesMaster1.xml" Id="R2bda2c84c72d40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850da589314412" /><Relationship Type="http://schemas.openxmlformats.org/officeDocument/2006/relationships/notesMaster" Target="/ppt/notesMasters/notesMaster1.xml" Id="R1ba16b323f4e40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2c887b121b4f0f" /><Relationship Type="http://schemas.openxmlformats.org/officeDocument/2006/relationships/notesMaster" Target="/ppt/notesMasters/notesMaster1.xml" Id="Red9e98efb7d947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895ec1953d4896" /><Relationship Type="http://schemas.openxmlformats.org/officeDocument/2006/relationships/notesMaster" Target="/ppt/notesMasters/notesMaster1.xml" Id="R9be4acd64d3349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9c843ee7594e44" /><Relationship Type="http://schemas.openxmlformats.org/officeDocument/2006/relationships/notesMaster" Target="/ppt/notesMasters/notesMaster1.xml" Id="R02757d8b61b445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cee11e933246d2" /><Relationship Type="http://schemas.openxmlformats.org/officeDocument/2006/relationships/notesMaster" Target="/ppt/notesMasters/notesMaster1.xml" Id="Rbd1b90befc7f42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f5cb377fe242aa" /><Relationship Type="http://schemas.openxmlformats.org/officeDocument/2006/relationships/notesMaster" Target="/ppt/notesMasters/notesMaster1.xml" Id="Rcfcf60b3c28849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d8ca5f3e3f40bc" /><Relationship Type="http://schemas.openxmlformats.org/officeDocument/2006/relationships/notesMaster" Target="/ppt/notesMasters/notesMaster1.xml" Id="R14ec88d1d59c40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2b3189a5e148c6" /><Relationship Type="http://schemas.openxmlformats.org/officeDocument/2006/relationships/notesMaster" Target="/ppt/notesMasters/notesMaster1.xml" Id="R0f9b7c6ff49648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00de3f831f4b68" /><Relationship Type="http://schemas.openxmlformats.org/officeDocument/2006/relationships/notesMaster" Target="/ppt/notesMasters/notesMaster1.xml" Id="R636f328d035348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da57b429df4766" /><Relationship Type="http://schemas.openxmlformats.org/officeDocument/2006/relationships/notesMaster" Target="/ppt/notesMasters/notesMaster1.xml" Id="R09dbaba7621046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2d8c3ea0614575" /><Relationship Type="http://schemas.openxmlformats.org/officeDocument/2006/relationships/notesMaster" Target="/ppt/notesMasters/notesMaster1.xml" Id="R04e4a2d569fb4d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284f9127834584" /><Relationship Type="http://schemas.openxmlformats.org/officeDocument/2006/relationships/notesMaster" Target="/ppt/notesMasters/notesMaster1.xml" Id="R19a7812792e94a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8f5cd36f88418f" /><Relationship Type="http://schemas.openxmlformats.org/officeDocument/2006/relationships/notesMaster" Target="/ppt/notesMasters/notesMaster1.xml" Id="Rd91b29e350e5454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1aef4a9b23f47ba" /><Relationship Type="http://schemas.openxmlformats.org/officeDocument/2006/relationships/notesMaster" Target="/ppt/notesMasters/notesMaster1.xml" Id="Rf04281b2772f47c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224977698344e4c" /><Relationship Type="http://schemas.openxmlformats.org/officeDocument/2006/relationships/notesMaster" Target="/ppt/notesMasters/notesMaster1.xml" Id="R26f94f6e52e3469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05cf4a996e9447f" /><Relationship Type="http://schemas.openxmlformats.org/officeDocument/2006/relationships/notesMaster" Target="/ppt/notesMasters/notesMaster1.xml" Id="R968ac2ec7dc1426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8c8d920efdf4f7d" /><Relationship Type="http://schemas.openxmlformats.org/officeDocument/2006/relationships/notesMaster" Target="/ppt/notesMasters/notesMaster1.xml" Id="R58d85a7f3a43435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d04cd40545d491a" /><Relationship Type="http://schemas.openxmlformats.org/officeDocument/2006/relationships/notesMaster" Target="/ppt/notesMasters/notesMaster1.xml" Id="Rcbf175d4997949c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223f0060eba495e" /><Relationship Type="http://schemas.openxmlformats.org/officeDocument/2006/relationships/notesMaster" Target="/ppt/notesMasters/notesMaster1.xml" Id="Rfd766776dc6542b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e34709c4024428e" /><Relationship Type="http://schemas.openxmlformats.org/officeDocument/2006/relationships/notesMaster" Target="/ppt/notesMasters/notesMaster1.xml" Id="R90782f75fcb649f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2ef2e379ad24c38" /><Relationship Type="http://schemas.openxmlformats.org/officeDocument/2006/relationships/notesMaster" Target="/ppt/notesMasters/notesMaster1.xml" Id="Rd0a0e4af018145f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f4e592b95fd40f4" /><Relationship Type="http://schemas.openxmlformats.org/officeDocument/2006/relationships/notesMaster" Target="/ppt/notesMasters/notesMaster1.xml" Id="Ra48d7905b1a743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52cbd9be74b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25f198f04343e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8a2391ced4e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8ac4bd6c174a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7c616f1f6d40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9a69a2c1d417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23c9a83b2045c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7d51a0cc7a423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9cd979f060458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5d691917cb4d5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8b4eb4caf4e0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A4D8D7-AABD-4875-A989-6789298E881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7CB4AD6-B7B7-4BC5-8DFC-F1D135C697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C7F521-A4C5-4665-872F-3088352A39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2F74163-3DE5-41E1-9171-6ECB061516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777235-1605-42E6-BF64-C5ECDAE9E6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4B917B-BEE1-4FC9-95D6-9D1157A16C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FFA682F-2ACD-4F66-80DE-90C4480B872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A5D5D4-6291-4DB0-96A8-F7E170FE6F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606A75-B174-4343-A82F-158FB87326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5C05C9-64AF-49BB-A4FE-2A123986FA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519C6D9-18D8-45FB-B235-06B4FC54AF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8CF0C95-312B-4653-B6D6-AE16C881AD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368D800-FD2C-45F1-B2E6-B42BDDF225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BB55F75-1147-45B1-A712-8D3701F0D9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30D17-1409-4CB4-A6BD-E644596048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D5AF27-74E5-4F5D-AE5D-4234FA7422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E37245-C614-4649-87E1-C60D893DF0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EE43AF4-4DB9-43FC-B0C3-C731B964389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AB016DA-C0D4-49E8-9D6A-56A76ECBFC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FAACB3A-5E7B-4AB7-8B72-5446A154E4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407A1D-7CD9-4453-AA7B-A1215301C7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0C23FB-7086-4E3F-8815-22B9749B7D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7CBE5-4993-4A79-ADF5-39F644371F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8F5505A-6299-4576-81D3-3E2E3C4F9FE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0F942C9-AFF4-4F75-B976-FA5CB84F19D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979C91C-9CFD-4487-AC93-C8F0EEA63ED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535E400-81D7-46F2-9A6E-271670378C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6ECE58A-DD6E-4BCC-BDA0-60C1699DDB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AD32904-EDEC-40E3-B590-67A13CED18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B97F22-DFCC-4019-94BF-C74E303FDF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BF875E1-9B1B-40C6-A8F6-8A9EB6ED39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65F2927-5F38-41FB-9C34-A3C67A0FC7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3B6F9DB-CEBC-4EB0-83C0-B3171A3E4D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94E50FB-F5FF-4ACF-8C7B-7B2458C91D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EB201AF-3E50-4DF1-9FCD-2E2983F5DB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CFD8C97-3FA5-4682-ACE2-43DE6E8C8D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DAF00B1-C21C-4844-B24F-D84B0D0F4A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EDEF374-62BE-4168-B414-AFCF54539B9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CC7C2AC-1DDE-45B8-9BA5-8C690816BA8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0B44DAC-B4D8-4212-9A7A-C1560BC01B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CAE32A7-8C20-4A58-ADE2-DE1F2F5F2E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1B5F0DC-3F9E-4FD9-B404-208E662AD6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127AB5-99D0-44B7-867B-9A1259DF4F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EC42534-53B6-4371-9D01-A57AD8806AB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4A25A1F-6A35-47CB-9CB0-55D64C30A8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87ED07B-6287-431E-BF7C-2AFFE9347B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40F2A89-E547-4F16-96BF-3DC2984088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040ADF6-3F49-445B-B4B2-F26262BA68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100A230-418B-472A-A696-0C17FCE899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ADCF0A-1305-4705-AF36-1987ECC3AB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EB2AB14-F2CD-4E68-AE1A-61EB39CCBE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34C571A-05BB-47E0-BCF2-C7AA6E91FD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EC3396-45FB-4AE5-8408-0577F3A419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3F8AD5B-CF14-4626-AE10-2C4A6B01D7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EF445F0-386E-4E6F-938E-D0FBC9D0AA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5BA3F9-1C73-48BB-A05D-AE524368BD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2CFBB02-CE4A-432F-8E01-A56E01263F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0B6BAD-AE1D-4739-81C3-8EA5828417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397674de2543de" /><Relationship Type="http://schemas.openxmlformats.org/officeDocument/2006/relationships/slideLayout" Target="/ppt/slideLayouts/slideLayout1.xml" Id="R453fa99c19e049d8" /><Relationship Type="http://schemas.openxmlformats.org/officeDocument/2006/relationships/slideLayout" Target="/ppt/slideLayouts/slideLayout2.xml" Id="R02c7901750f44e11" /><Relationship Type="http://schemas.openxmlformats.org/officeDocument/2006/relationships/slideLayout" Target="/ppt/slideLayouts/slideLayout3.xml" Id="Re9bd611365244058" /><Relationship Type="http://schemas.openxmlformats.org/officeDocument/2006/relationships/slideLayout" Target="/ppt/slideLayouts/slideLayout4.xml" Id="R4efab65d29824119" /><Relationship Type="http://schemas.openxmlformats.org/officeDocument/2006/relationships/slideLayout" Target="/ppt/slideLayouts/slideLayout5.xml" Id="R96c887b47909450d" /><Relationship Type="http://schemas.openxmlformats.org/officeDocument/2006/relationships/slideLayout" Target="/ppt/slideLayouts/slideLayout6.xml" Id="R5cf805a3e30347ed" /><Relationship Type="http://schemas.openxmlformats.org/officeDocument/2006/relationships/slideLayout" Target="/ppt/slideLayouts/slideLayout7.xml" Id="R0a382a59fa324777" /><Relationship Type="http://schemas.openxmlformats.org/officeDocument/2006/relationships/slideLayout" Target="/ppt/slideLayouts/slideLayout8.xml" Id="R2d485b67baf64c70" /><Relationship Type="http://schemas.openxmlformats.org/officeDocument/2006/relationships/slideLayout" Target="/ppt/slideLayouts/slideLayout9.xml" Id="R8a58baf44b50405a" /><Relationship Type="http://schemas.openxmlformats.org/officeDocument/2006/relationships/slideLayout" Target="/ppt/slideLayouts/slideLayout10.xml" Id="Rc8b615fba54e4cf8" /><Relationship Type="http://schemas.openxmlformats.org/officeDocument/2006/relationships/slideLayout" Target="/ppt/slideLayouts/slideLayout11.xml" Id="R98c6eca96a87408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67C7D27-869A-49F8-B3F6-4C91E37322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1B8BFBB-8AF3-4355-9AC6-69D4680D27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78DC9CC-C4EE-45F4-8D84-C6D9980A76A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AAC50CB-6060-4E8E-A0AC-E9E1A57A197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8DB907-CA89-475A-BAFC-2A12970F9F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3fa99c19e049d8"/>
    <p:sldLayoutId xmlns:r="http://schemas.openxmlformats.org/officeDocument/2006/relationships" id="2147483650" r:id="R02c7901750f44e11"/>
    <p:sldLayoutId xmlns:r="http://schemas.openxmlformats.org/officeDocument/2006/relationships" id="2147483651" r:id="Re9bd611365244058"/>
    <p:sldLayoutId xmlns:r="http://schemas.openxmlformats.org/officeDocument/2006/relationships" id="2147483652" r:id="R4efab65d29824119"/>
    <p:sldLayoutId xmlns:r="http://schemas.openxmlformats.org/officeDocument/2006/relationships" id="2147483653" r:id="R96c887b47909450d"/>
    <p:sldLayoutId xmlns:r="http://schemas.openxmlformats.org/officeDocument/2006/relationships" id="2147483654" r:id="R5cf805a3e30347ed"/>
    <p:sldLayoutId xmlns:r="http://schemas.openxmlformats.org/officeDocument/2006/relationships" id="2147483655" r:id="R0a382a59fa324777"/>
    <p:sldLayoutId xmlns:r="http://schemas.openxmlformats.org/officeDocument/2006/relationships" id="2147483656" r:id="R2d485b67baf64c70"/>
    <p:sldLayoutId xmlns:r="http://schemas.openxmlformats.org/officeDocument/2006/relationships" id="2147483657" r:id="R8a58baf44b50405a"/>
    <p:sldLayoutId xmlns:r="http://schemas.openxmlformats.org/officeDocument/2006/relationships" id="2147483658" r:id="Rc8b615fba54e4cf8"/>
    <p:sldLayoutId xmlns:r="http://schemas.openxmlformats.org/officeDocument/2006/relationships" id="2147483659" r:id="R98c6eca96a874082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c79ef4c0c247d2" /><Relationship Type="http://schemas.openxmlformats.org/officeDocument/2006/relationships/notesSlide" Target="/ppt/notesSlides/notesSlide1.xml" Id="Rbf4e5586c4374a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28a07c10054dbb" /><Relationship Type="http://schemas.openxmlformats.org/officeDocument/2006/relationships/notesSlide" Target="/ppt/notesSlides/notesSlide2.xml" Id="R822bd5ada2fc45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fadfaae3294647" /><Relationship Type="http://schemas.openxmlformats.org/officeDocument/2006/relationships/notesSlide" Target="/ppt/notesSlides/notesSlide3.xml" Id="R3432352e7dbb47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b5ae11d17c45d7" /><Relationship Type="http://schemas.openxmlformats.org/officeDocument/2006/relationships/notesSlide" Target="/ppt/notesSlides/notesSlide4.xml" Id="Rccf3d96d414d47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5a114e54d3409a" /><Relationship Type="http://schemas.openxmlformats.org/officeDocument/2006/relationships/notesSlide" Target="/ppt/notesSlides/notesSlide5.xml" Id="Rd72bc917b8a640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754968fab8c4580" /><Relationship Type="http://schemas.openxmlformats.org/officeDocument/2006/relationships/notesSlide" Target="/ppt/notesSlides/notesSlide6.xml" Id="R3fee237754b241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a7704e9c8c4b49" /><Relationship Type="http://schemas.openxmlformats.org/officeDocument/2006/relationships/notesSlide" Target="/ppt/notesSlides/notesSlide7.xml" Id="Rfca54bd070a741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b1c76c4854c40c4" /><Relationship Type="http://schemas.openxmlformats.org/officeDocument/2006/relationships/notesSlide" Target="/ppt/notesSlides/notesSlide8.xml" Id="Rf6f5c2f8d44043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1955269d4548e6" /><Relationship Type="http://schemas.openxmlformats.org/officeDocument/2006/relationships/notesSlide" Target="/ppt/notesSlides/notesSlide9.xml" Id="R60f0c62441bc4d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542c654e3d49fe" /><Relationship Type="http://schemas.openxmlformats.org/officeDocument/2006/relationships/notesSlide" Target="/ppt/notesSlides/notesSlide10.xml" Id="R6876ec5dfcf941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9fe243dccb4465" /><Relationship Type="http://schemas.openxmlformats.org/officeDocument/2006/relationships/notesSlide" Target="/ppt/notesSlides/notesSlide11.xml" Id="Rdb924f73e4564a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6b096c5bad41f5" /><Relationship Type="http://schemas.openxmlformats.org/officeDocument/2006/relationships/notesSlide" Target="/ppt/notesSlides/notesSlide12.xml" Id="R9e0864f2f27849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e33d3b82bd4361" /><Relationship Type="http://schemas.openxmlformats.org/officeDocument/2006/relationships/notesSlide" Target="/ppt/notesSlides/notesSlide13.xml" Id="R9baf63c31df941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f7f33b1ed2f468f" /><Relationship Type="http://schemas.openxmlformats.org/officeDocument/2006/relationships/notesSlide" Target="/ppt/notesSlides/notesSlide14.xml" Id="R04bfe2b8c37c44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bad7fe838b4254" /><Relationship Type="http://schemas.openxmlformats.org/officeDocument/2006/relationships/notesSlide" Target="/ppt/notesSlides/notesSlide15.xml" Id="R2b97f64ee58d4e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1a1a9b4c2b4459" /><Relationship Type="http://schemas.openxmlformats.org/officeDocument/2006/relationships/notesSlide" Target="/ppt/notesSlides/notesSlide16.xml" Id="R2f15f9e894614f8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2c9be4efd14615" /><Relationship Type="http://schemas.openxmlformats.org/officeDocument/2006/relationships/notesSlide" Target="/ppt/notesSlides/notesSlide17.xml" Id="R5558ef751b6a421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11a873791a45ce" /><Relationship Type="http://schemas.openxmlformats.org/officeDocument/2006/relationships/notesSlide" Target="/ppt/notesSlides/notesSlide18.xml" Id="Rd89d94c709bc4d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bc05e0f3ef4192" /><Relationship Type="http://schemas.openxmlformats.org/officeDocument/2006/relationships/notesSlide" Target="/ppt/notesSlides/notesSlide19.xml" Id="R58a6125237734e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eb40e5240704bda" /><Relationship Type="http://schemas.openxmlformats.org/officeDocument/2006/relationships/notesSlide" Target="/ppt/notesSlides/notesSlide20.xml" Id="Rae7331235e25410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54c7a2048646cf" /><Relationship Type="http://schemas.openxmlformats.org/officeDocument/2006/relationships/notesSlide" Target="/ppt/notesSlides/notesSlide21.xml" Id="R524e76a689c34da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e86df15f25431d" /><Relationship Type="http://schemas.openxmlformats.org/officeDocument/2006/relationships/notesSlide" Target="/ppt/notesSlides/notesSlide22.xml" Id="R5095b81e103e42d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0ba37063af9419d" /><Relationship Type="http://schemas.openxmlformats.org/officeDocument/2006/relationships/notesSlide" Target="/ppt/notesSlides/notesSlide23.xml" Id="Rafe5ac9baf6145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1C32652F-3B85-403B-AA09-20B8D8F1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48640"/>
            <a:ext cx="1920240" cy="1920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70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300E1BDA-27EA-413C-BB9A-771477E1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920240"/>
            <a:ext cx="1463040" cy="146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39942590-1D8C-489F-90AA-AC81F1B0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474720"/>
            <a:ext cx="1188720" cy="1188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8F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24C15236-A626-464E-B4D2-31C665D0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4206240"/>
            <a:ext cx="1645920" cy="164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41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806B386-8AEC-49ED-A31F-DDA2F310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731520"/>
            <a:ext cx="7132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1">
                <a:solidFill>
                  <a:srgbClr val="8EDCD8"/>
                </a:solidFill>
                <a:latin typeface="Aptos"/>
                <a:ea typeface="Aptos"/>
                <a:cs typeface="Aptos"/>
              </a:rPr>
              <a:t>PRODUCT CONCEPT • B2C + B2B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EECC554-830A-46A5-B0E8-DA09A1EB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371600"/>
            <a:ext cx="75895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3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COMMERCE</a:t>
            </a:r>
            <a:br>
              <a:rPr sz="3100" b="1">
                <a:solidFill>
                  <a:srgbClr val="FFFFFF"/>
                </a:solidFill>
                <a:latin typeface="Aptos"/>
                <a:ea typeface="Aptos"/>
                <a:cs typeface="Aptos"/>
              </a:rPr>
            </a:br>
            <a:r>
              <a:rPr sz="3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&amp; CLOUD INVENTORY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D49038B-BAF1-40A1-AFD1-9E5A0A50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017520"/>
            <a:ext cx="6858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0">
                <a:solidFill>
                  <a:srgbClr val="DEE7F2"/>
                </a:solidFill>
                <a:latin typeface="Aptos"/>
                <a:ea typeface="Aptos"/>
                <a:cs typeface="Aptos"/>
              </a:rPr>
              <a:t>Discover nearby products. Manage inventory centrally.</a:t>
            </a:r>
            <a:br>
              <a:rPr sz="1800" b="0">
                <a:solidFill>
                  <a:srgbClr val="DEE7F2"/>
                </a:solidFill>
                <a:latin typeface="Aptos"/>
                <a:ea typeface="Aptos"/>
                <a:cs typeface="Aptos"/>
              </a:rPr>
            </a:br>
            <a:r>
              <a:rPr sz="1800" b="0">
                <a:solidFill>
                  <a:srgbClr val="DEE7F2"/>
                </a:solidFill>
                <a:latin typeface="Aptos"/>
                <a:ea typeface="Aptos"/>
                <a:cs typeface="Aptos"/>
              </a:rPr>
              <a:t>Reserve confidently.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00E3F7C-F6E7-42B7-8125-ABB32CA4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251960"/>
            <a:ext cx="214884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74164"/>
          </a:solidFill>
          <a:ln xmlns:a="http://schemas.openxmlformats.org/drawingml/2006/main">
            <a:solidFill>
              <a:srgbClr val="27416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4CEDFF1-DF30-4932-B13A-8576AC15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288536"/>
            <a:ext cx="207568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Consumer discovery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05F7D7C-30BA-4876-895F-716C2AF6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4251960"/>
            <a:ext cx="224028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74164"/>
          </a:solidFill>
          <a:ln xmlns:a="http://schemas.openxmlformats.org/drawingml/2006/main">
            <a:solidFill>
              <a:srgbClr val="27416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12D48EE-8FE6-40FD-AB50-7EFF980C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4288536"/>
            <a:ext cx="216712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Merchant operations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E05A369-8524-441F-A399-B38C2E02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4251960"/>
            <a:ext cx="205740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74164"/>
          </a:solidFill>
          <a:ln xmlns:a="http://schemas.openxmlformats.org/drawingml/2006/main">
            <a:solidFill>
              <a:srgbClr val="27416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FA75202-D1C7-4AB4-8DC0-EBA1C115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4288536"/>
            <a:ext cx="198424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Shared cloud platform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D0A574F-6533-4496-8135-8867C785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989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B4C3D6"/>
                </a:solidFill>
                <a:latin typeface="Aptos"/>
                <a:ea typeface="Aptos"/>
                <a:cs typeface="Aptos"/>
              </a:rPr>
              <a:t>Detailed concept deck for review and discussion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BEEDD5F-1001-4297-8BE8-BCA88F96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6891CFC-2470-489E-B12C-C034E6E9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803838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95A460E-FD53-405C-871B-336F1758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Executive summary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CB6E6FE-92FC-4E6C-A7FF-940939AB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10972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Two independently useful applications connected through shared cloud services.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E7D842A-1E81-4291-9A87-590D0D83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6583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CDEA37A-145E-438F-B30D-1811A20A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56F3ACF-3969-47FD-B682-1E6595E5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7F3B37B-D513-4424-A51D-FACE4C8D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63040"/>
            <a:ext cx="3520440" cy="19659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B8C8A5B-DC9D-4439-92FA-1416113F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63040"/>
            <a:ext cx="64008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0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43B7595-4C38-485D-AEF1-717F363A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81912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B2C • Consumer app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7454C8C-D1AC-40F3-9177-2D195D05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200400" cy="13807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Search products and categories, discover nearby shops, view availability and freshness, request reservations, call or navigate.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8DDCBAA-AFB0-4889-B86A-D0A97EA5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63040"/>
            <a:ext cx="3520440" cy="19659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43EEA64-40F8-4328-9A63-4E1A1026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63040"/>
            <a:ext cx="64008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DA835A4-B5AF-4435-8EF5-2DDA21FC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581912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B2B • Merchant app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AB13933-9789-45EA-AD04-801E8345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65960"/>
            <a:ext cx="3200400" cy="13807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Manage products, stock, sales, purchases, suppliers, branches, reports and integrations online.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F72AFB71-2ECB-4045-97CD-20643A9C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63040"/>
            <a:ext cx="3520440" cy="19659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BD54907-0ADA-4076-BE4F-79CD5217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63040"/>
            <a:ext cx="64008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8F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118753F-8A3D-4FA7-8E80-79E45D91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1581912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Shared platform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10DF01B-2C71-44F9-8FE2-88217C2A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1965960"/>
            <a:ext cx="3200400" cy="13807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Product catalogue, inventory ledger, availability API, search, geolocation, reservations and integration services.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AA46F2D-3E1D-438F-B907-551F7B60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86200"/>
            <a:ext cx="10515600" cy="12344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>
            <a:solidFill>
              <a:srgbClr val="EFF4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571F0D8-496E-444B-9533-B3273416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33087"/>
            <a:ext cx="1005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7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Core promise: shopkeepers manage inventory once; consumers discover what is available nearby—when the merchant publishes it and the data is fresh enough to trust.</a:t>
            </a:r>
          </a:p>
        </p:txBody>
      </p:sp>
    </p:spTree>
    <p:extLst>
      <p:ext uri="{BB962C8B-B14F-4D97-AF65-F5344CB8AC3E}">
        <p14:creationId xmlns:p14="http://schemas.microsoft.com/office/powerpoint/2010/main" val="18888381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4275344-57CD-42ED-A81C-48789196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1B651CA-A7AE-428B-9570-17D22023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10972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Two disconnected experiences create wasted time for consumers and missed opportunities for merchants.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0D513CB-F1A5-457C-A10F-F0DC11C1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6583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502AABE-4148-4087-8356-BA0DFC54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5AE6AD8-75D1-43A6-8372-2967C94E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48F6E74-9FD9-48F8-9944-B21F81BE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5303520" cy="35204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0E1062D-5B6A-4E70-BBD6-273636BF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64008" cy="3520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94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8465CD6-2728-442A-B89A-1619DF98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581912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Consumer pain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661642E-6A80-4BDB-A6C3-452B0337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965960"/>
            <a:ext cx="4983480" cy="2935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5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• Search a nearby medical shop or other retailer</a:t>
            </a:r>
            <a:br>
              <a:rPr sz="1500" b="0">
                <a:solidFill>
                  <a:srgbClr val="2A3545"/>
                </a:solidFill>
                <a:latin typeface="Aptos"/>
                <a:ea typeface="Aptos"/>
                <a:cs typeface="Aptos"/>
              </a:rPr>
            </a:br>
            <a:r>
              <a:rPr sz="15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• Travel to the location</a:t>
            </a:r>
            <a:br>
              <a:rPr sz="1500" b="0">
                <a:solidFill>
                  <a:srgbClr val="2A3545"/>
                </a:solidFill>
                <a:latin typeface="Aptos"/>
                <a:ea typeface="Aptos"/>
                <a:cs typeface="Aptos"/>
              </a:rPr>
            </a:br>
            <a:r>
              <a:rPr sz="15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• Discover the product is unavailable</a:t>
            </a:r>
            <a:br>
              <a:rPr sz="1500" b="0">
                <a:solidFill>
                  <a:srgbClr val="2A3545"/>
                </a:solidFill>
                <a:latin typeface="Aptos"/>
                <a:ea typeface="Aptos"/>
                <a:cs typeface="Aptos"/>
              </a:rPr>
            </a:br>
            <a:r>
              <a:rPr sz="15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• Repeat the search and journey</a:t>
            </a:r>
            <a:br>
              <a:rPr sz="1500" b="0">
                <a:solidFill>
                  <a:srgbClr val="2A3545"/>
                </a:solidFill>
                <a:latin typeface="Aptos"/>
                <a:ea typeface="Aptos"/>
                <a:cs typeface="Aptos"/>
              </a:rPr>
            </a:br>
            <a:br>
              <a:rPr sz="1500" b="0">
                <a:solidFill>
                  <a:srgbClr val="2A3545"/>
                </a:solidFill>
                <a:latin typeface="Aptos"/>
                <a:ea typeface="Aptos"/>
                <a:cs typeface="Aptos"/>
              </a:rPr>
            </a:br>
            <a:r>
              <a:rPr sz="15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Result: wasted time, uncertainty and frustration.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9CAED96-D82D-45E6-AFF0-EBDDF16D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63040"/>
            <a:ext cx="5303520" cy="35204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8655975-9590-4A40-AC36-9E712B99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63040"/>
            <a:ext cx="64008" cy="3520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8F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D747BA6-E738-467F-BA96-57638F2F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81912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Merchant pain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420ACE6-DE79-4F13-9448-EAAFAC9E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65960"/>
            <a:ext cx="4983480" cy="2935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5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• Inventory is in desktop software, spreadsheets or manual records</a:t>
            </a:r>
            <a:br>
              <a:rPr sz="1500" b="0">
                <a:solidFill>
                  <a:srgbClr val="2A3545"/>
                </a:solidFill>
                <a:latin typeface="Aptos"/>
                <a:ea typeface="Aptos"/>
                <a:cs typeface="Aptos"/>
              </a:rPr>
            </a:br>
            <a:r>
              <a:rPr sz="15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• Stock is disconnected from consumer discovery</a:t>
            </a:r>
            <a:br>
              <a:rPr sz="1500" b="0">
                <a:solidFill>
                  <a:srgbClr val="2A3545"/>
                </a:solidFill>
                <a:latin typeface="Aptos"/>
                <a:ea typeface="Aptos"/>
                <a:cs typeface="Aptos"/>
              </a:rPr>
            </a:br>
            <a:r>
              <a:rPr sz="15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• Records can become outdated or inconsistent</a:t>
            </a:r>
            <a:br>
              <a:rPr sz="1500" b="0">
                <a:solidFill>
                  <a:srgbClr val="2A3545"/>
                </a:solidFill>
                <a:latin typeface="Aptos"/>
                <a:ea typeface="Aptos"/>
                <a:cs typeface="Aptos"/>
              </a:rPr>
            </a:br>
            <a:r>
              <a:rPr sz="15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• Small shops lack affordable digital visibility</a:t>
            </a:r>
            <a:br>
              <a:rPr sz="1500" b="0">
                <a:solidFill>
                  <a:srgbClr val="2A3545"/>
                </a:solidFill>
                <a:latin typeface="Aptos"/>
                <a:ea typeface="Aptos"/>
                <a:cs typeface="Aptos"/>
              </a:rPr>
            </a:br>
            <a:br>
              <a:rPr sz="1500" b="0">
                <a:solidFill>
                  <a:srgbClr val="2A3545"/>
                </a:solidFill>
                <a:latin typeface="Aptos"/>
                <a:ea typeface="Aptos"/>
                <a:cs typeface="Aptos"/>
              </a:rPr>
            </a:br>
            <a:r>
              <a:rPr sz="15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Result: fragmented operations and lost demand.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3EAD149-1DED-4FD7-AC9B-396614DA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0352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800" b="1">
                <a:solidFill>
                  <a:srgbClr val="149187"/>
                </a:solidFill>
                <a:latin typeface="Aptos"/>
                <a:ea typeface="Aptos"/>
                <a:cs typeface="Aptos"/>
              </a:rPr>
              <a:t>Opportunity: connect reliable inventory operations to local product discovery.</a:t>
            </a:r>
          </a:p>
        </p:txBody>
      </p:sp>
    </p:spTree>
    <p:extLst>
      <p:ext uri="{BB962C8B-B14F-4D97-AF65-F5344CB8AC3E}">
        <p14:creationId xmlns:p14="http://schemas.microsoft.com/office/powerpoint/2010/main" val="2277555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882E7E5-94C7-4903-929B-85DDFB86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Product principles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213D6D9-D043-4DC7-898D-F33FCD09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10972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Design for trust and practical adoption—not just a large feature list.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6E4742-AF39-4B2B-BA98-22D5DB5C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6583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63892D0-CB33-46AA-A455-46C60BDD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1A2CCD-BCD9-4D90-B99E-27363AB1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FFD8BA5-53CE-4D5F-98E2-F288EF71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520440" cy="16459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350FCD3-734D-4250-82A6-C9E4FDB0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6400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0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97ED774-0D1A-4D31-97DA-DBA63CF6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536192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Inventory once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BD9F6B8-FACE-41A2-A78A-F91B921D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920240"/>
            <a:ext cx="3200400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Sales, purchases, adjustments and reservations update stock.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6958D1E-F06B-4199-9312-C56F0AEC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417320"/>
            <a:ext cx="3520440" cy="16459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F26FB04-22E2-4825-8518-8C8D52E8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417320"/>
            <a:ext cx="6400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C65F1E9-A53E-447F-8A64-4F78E802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536192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Freshness visible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5C6823C-2958-4EBA-979A-EF03974B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20240"/>
            <a:ext cx="3200400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Show update time; distinguish confirmed, reported, stale and unconfirmed.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F65660F-8C0E-4D83-97D8-8CF3F0D1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417320"/>
            <a:ext cx="3520440" cy="16459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DC58E26-B29D-4381-A4EB-C5B70865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417320"/>
            <a:ext cx="6400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8F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EA40DA2-5AE4-498E-B8FF-4B958A3B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19" y="1536192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Useful standalone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48E1DF9-C0F7-412B-BAB9-14A19D54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19" y="1920240"/>
            <a:ext cx="3200400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B2B creates value before B2C traffic grows.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E24BFEA-D1C3-4CA7-9E62-521A09DF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3520440" cy="16459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20586A6-B161-4217-BDDA-3E713401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6400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0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EB552B8-12BE-4139-B243-19175820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3593591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Category-flexible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832F5EF-2E90-472F-84C5-B2AAC2A4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3977639"/>
            <a:ext cx="3200400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Shared core model with category-specific attributes.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1CEA363E-14B8-42EE-A20A-00314732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474720"/>
            <a:ext cx="3520440" cy="16459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B8167F5-0F53-4032-8E36-280549F6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474720"/>
            <a:ext cx="6400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300D684-D426-4A9C-AA69-6E05A1EF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593591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Integration-friendly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8FE52DF-C46B-48DB-85C4-0AA3F6AE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977639"/>
            <a:ext cx="3200400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Migrate from existing tools rather than forcing immediate replacement.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85048063-F458-4DD2-B2D5-7CE98B83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474720"/>
            <a:ext cx="3520440" cy="16459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FC988D94-DBB1-428B-A223-D92D7EEF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474720"/>
            <a:ext cx="6400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8F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F80F286-331D-413E-9B83-A0A2D64C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19" y="3593591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Trust and safety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11186E6-3442-4AC7-9EE7-D36DA545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19" y="3977639"/>
            <a:ext cx="3200400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Secure merchant data and audit inventory changes.</a:t>
            </a:r>
          </a:p>
        </p:txBody>
      </p:sp>
    </p:spTree>
    <p:extLst>
      <p:ext uri="{BB962C8B-B14F-4D97-AF65-F5344CB8AC3E}">
        <p14:creationId xmlns:p14="http://schemas.microsoft.com/office/powerpoint/2010/main" val="7998869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A396735-924D-482C-BEAE-7AD0BFDE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Target users and launch posture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4B3FA29-05CA-4F74-AC03-AF41DBD7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10972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Support multiple categories architecturally; launch with focused geography and merchant cohorts.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D3C6E1E-E484-453D-93E9-52AF12FB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6583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A48A50E-9B7A-4778-A317-6929AFF8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2605A7C-0BDC-4F28-BD88-BA37DFF3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BF8372D-2EFE-47B2-8602-60895EB1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3520440" cy="3200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FCC6FBC-BA6C-484D-82C6-265480B3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64008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0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184DF83-CF5C-4E9C-B5AB-47474134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581912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Consumers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7B1A737-3F5D-4236-88B9-9642E1EC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965960"/>
            <a:ext cx="3200400" cy="2615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Search for a product or shop category nearby. Need reliable availability, price context, directions and reservation confirmation.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F5B3C40-AAA4-4152-9335-E78395B1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63040"/>
            <a:ext cx="3520440" cy="3200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485767A-167C-47F6-B875-B3F053D5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63040"/>
            <a:ext cx="64008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85A6B03-A84B-4531-A0F7-935B1BCE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581912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Independent shops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A25C858-6AF1-493C-A1DB-F43DE4BD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65960"/>
            <a:ext cx="3200400" cy="2615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Need affordable setup, simple stock entry, imports, mobile workflows and useful reports.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8807EBB-9407-4311-918B-49B22E84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63040"/>
            <a:ext cx="3520440" cy="3200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258DDA0-9757-4841-9F6D-A439F4D5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63040"/>
            <a:ext cx="64008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8F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BEAA9C8-C3A5-41AB-BC32-07EBAE2C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81912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Retail chains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D251CFE-61E2-4E9A-AA43-A029EE6E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65960"/>
            <a:ext cx="3200400" cy="2615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Need branches, roles, transfers, standardized catalogues, APIs and consolidated reporting.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44FBFCF-C8E5-4F83-B55D-013F7BB4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6636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5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Recommended go-to-market: multi-category-ready platform → limited launch categories → one locality → expand on evidence.</a:t>
            </a:r>
          </a:p>
        </p:txBody>
      </p:sp>
    </p:spTree>
    <p:extLst>
      <p:ext uri="{BB962C8B-B14F-4D97-AF65-F5344CB8AC3E}">
        <p14:creationId xmlns:p14="http://schemas.microsoft.com/office/powerpoint/2010/main" val="4170920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268CE46-71B3-4ABA-9F52-FF855E7F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B2C application: consumer discovery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7DB793B-800A-43F3-BE25-BFCA5979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10972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Help people find a suitable shop before travelling.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03D1033-764E-497A-A00F-BD8A3555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6583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0632DBE-602A-443A-AF81-AF7FCB73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0295859-E90F-4307-8856-5BF12B8F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1AFE9DB-B44F-4D71-BC6F-9F53CCA9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5303520" cy="12344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86B5B82-BD72-40E6-864B-57299110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0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98E445B-6084-4A28-9C29-A7435DEA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490472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Unified search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46D1C28-61C3-4304-95C2-5FAD256D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874519"/>
            <a:ext cx="498348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Product, brand, model, SKU/barcode and shop category; spelling variants and synonyms.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5088326-13B1-48A6-ABB3-C703D5D0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371600"/>
            <a:ext cx="5303520" cy="12344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B76F782-46B9-443B-960A-94DFC686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37160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A23255E-CD01-4AA9-9AEA-61F0C869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490472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Nearby results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49F39BB-DF29-41A8-BDE5-18130FAC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74519"/>
            <a:ext cx="498348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Map/list views; distance, opening hours, category and location filters.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72E8B9CA-B736-4BC1-8FB7-3A49A67B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5303520" cy="12344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FDA1FB9-EDEB-4CB9-92F5-4174C40A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8F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D7A31F4-E9FC-403C-83B7-51302657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2999232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Stock &amp; price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9D94279-B025-4487-B195-8DCC20F9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3383280"/>
            <a:ext cx="498348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Availability status, price where supplied, freshness and matching variants.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C4EBC9F1-AE93-4CBE-BF43-D8DF6DEE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80360"/>
            <a:ext cx="5303520" cy="12344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B2D136B-16DA-4B0A-9530-FD8D620E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8036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0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661C1BD-EBAE-4E71-9BE6-61A7425B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999232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Reservations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BAB2535-5670-4A12-AC8D-0AD426C8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83280"/>
            <a:ext cx="498348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Request quantity; merchant confirms or rejects; expiry and pickup instructions.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E2C211E1-67B8-4B27-AB76-8F9EF4FA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5303520" cy="12344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0EC5055-4D2D-4A91-AE1A-64691F2E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1B6A04B-FC89-4FC6-8FD1-407AC533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4507992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Fallback options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CE4A458-DF3C-478F-A989-452762B4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4892040"/>
            <a:ext cx="498348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If rejected or unavailable, suggest nearby alternatives with fresher data.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4C1B8D11-22CA-474D-9CED-C983C0E2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389120"/>
            <a:ext cx="5303520" cy="12344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512EB8B9-0053-47DA-83E0-837DC0A7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38912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8F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8A1B7D1-5915-47E4-B240-8EF6A458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507992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Contact &amp; directions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B565D85-D9DF-4B2E-B74A-D9AB37C4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892040"/>
            <a:ext cx="498348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Call shop, view address, navigate and check opening hours.</a:t>
            </a:r>
          </a:p>
        </p:txBody>
      </p:sp>
    </p:spTree>
    <p:extLst>
      <p:ext uri="{BB962C8B-B14F-4D97-AF65-F5344CB8AC3E}">
        <p14:creationId xmlns:p14="http://schemas.microsoft.com/office/powerpoint/2010/main" val="2495792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2776C18-6D56-481B-8F81-F2C10F06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Consumer journey: search to pickup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A692227-7080-4C40-9162-8836EF24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10972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Availability and freshness should be visible before a user commits to a trip.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8A71243-4042-454C-9E46-0F48DBCD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6583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EDCD408-67F6-459C-B685-8EE679C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EBA358-1673-49DB-8862-D11503A9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779C542-62DC-44A7-86EE-E89F4B66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057400"/>
            <a:ext cx="1645920" cy="15544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4C311C8-7736-4F61-B730-A0307ED0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7" y="1554480"/>
            <a:ext cx="566928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070BE"/>
          </a:solidFill>
          <a:ln xmlns:a="http://schemas.openxmlformats.org/drawingml/2006/main">
            <a:solidFill>
              <a:srgbClr val="3070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3998CC2-82DE-4690-9B0F-E4E022FA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3" y="1591056"/>
            <a:ext cx="49377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4093576-BB52-45C0-B436-B6BE6CBF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3317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3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664463F-2ABB-4AF8-88B6-B4C2BA55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724912"/>
            <a:ext cx="1463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Product/category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28D678A2-3CD0-40AA-914C-0E5AA590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834640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14918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610275F-428D-403F-9990-31E624AA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057400"/>
            <a:ext cx="1645920" cy="15544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DE2CED0-72BF-4124-98AD-4136B7CC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554480"/>
            <a:ext cx="566928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070BE"/>
          </a:solidFill>
          <a:ln xmlns:a="http://schemas.openxmlformats.org/drawingml/2006/main">
            <a:solidFill>
              <a:srgbClr val="3070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A39EF83-4695-4916-B5A9-EE69C990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1591056"/>
            <a:ext cx="49377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7457F67-0E4B-4B8C-8DEB-659E6BB3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23317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3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200E732-D0C8-4A3F-BA00-BDD4B50A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2724912"/>
            <a:ext cx="1463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Nearby shops</a:t>
            </a: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2E914739-822E-4ACB-AE2E-796CBF40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834640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14918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368A104-DDF7-4C90-8058-8B57FAF6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1" y="2057400"/>
            <a:ext cx="1645920" cy="15544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D99253D2-9996-4A9F-A423-57066AA9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7" y="1554480"/>
            <a:ext cx="566928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070BE"/>
          </a:solidFill>
          <a:ln xmlns:a="http://schemas.openxmlformats.org/drawingml/2006/main">
            <a:solidFill>
              <a:srgbClr val="3070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73A460F-DC18-4C3D-9931-EA6AD62E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903" y="1591056"/>
            <a:ext cx="49377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D9F53E0-2FA3-44B0-95BA-9A11A5EF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1" y="23317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3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05061F8-F33D-4C90-A1A3-593AE6E3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1" y="2724912"/>
            <a:ext cx="1463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Stock, price, freshness</a:t>
            </a:r>
          </a:p>
        </p:txBody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7948F00D-6E99-4367-8E3D-56873322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256031" cy="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14918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ACBAFF15-4622-45B4-992C-D3F90FFA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057400"/>
            <a:ext cx="1645920" cy="15544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33DFCC37-A85E-481A-8870-8244A97E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554480"/>
            <a:ext cx="566928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070BE"/>
          </a:solidFill>
          <a:ln xmlns:a="http://schemas.openxmlformats.org/drawingml/2006/main">
            <a:solidFill>
              <a:srgbClr val="3070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3239ADA-3643-4082-9195-4348C3AA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1591056"/>
            <a:ext cx="49377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E4BF8FE-C392-4FF5-8895-1A81364D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1" y="23317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3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0D0A946C-6DDD-43DE-AA2E-F1DE7156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1" y="2724912"/>
            <a:ext cx="1463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Reservation</a:t>
            </a:r>
          </a:p>
        </p:txBody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284E51DE-FC3A-4772-B2D8-97F1305C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34640"/>
            <a:ext cx="256031" cy="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14918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6879EE20-6C18-4C9B-BF8F-30B5FBF8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057400"/>
            <a:ext cx="1645920" cy="15544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950C4538-6264-47E7-84DD-7B03F870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1554480"/>
            <a:ext cx="566928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070BE"/>
          </a:solidFill>
          <a:ln xmlns:a="http://schemas.openxmlformats.org/drawingml/2006/main">
            <a:solidFill>
              <a:srgbClr val="3070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B29AD692-5663-4150-9638-3AD7EA98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8824" y="1591056"/>
            <a:ext cx="49377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9D58B0AE-67C3-4500-92B8-6FB802CF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3317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3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Confirm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D85E7825-3451-44DB-8D14-FFCDD85B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724912"/>
            <a:ext cx="1463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Stock allocated</a:t>
            </a:r>
          </a:p>
        </p:txBody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AF929BAF-70D9-413B-9C64-6F6171B2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834640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14918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0F1627A7-6A99-453D-ADB9-C127AABC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712" y="2057400"/>
            <a:ext cx="1645920" cy="15544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205AA384-2F46-40E2-8487-71EC17AB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1554480"/>
            <a:ext cx="566928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070BE"/>
          </a:solidFill>
          <a:ln xmlns:a="http://schemas.openxmlformats.org/drawingml/2006/main">
            <a:solidFill>
              <a:srgbClr val="3070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F095284C-4E93-401C-94F6-4DEE8062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4784" y="1591056"/>
            <a:ext cx="49377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217BFFA5-ECFD-433F-B3DC-A02C6CC1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23317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3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Collect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FB0DCFD1-8CCB-432A-889D-55738582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2724912"/>
            <a:ext cx="1463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Navigate &amp; pickup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E4997F79-0124-450B-900E-23868CB9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1960"/>
            <a:ext cx="10287000" cy="8686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>
            <a:solidFill>
              <a:srgbClr val="EFF4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55CF3C09-7846-470B-A2BB-8E0351D8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462272"/>
            <a:ext cx="99212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If reservation is rejected, expired or stock is stale → explain the status and offer alternatives.</a:t>
            </a:r>
          </a:p>
        </p:txBody>
      </p:sp>
    </p:spTree>
    <p:extLst>
      <p:ext uri="{BB962C8B-B14F-4D97-AF65-F5344CB8AC3E}">
        <p14:creationId xmlns:p14="http://schemas.microsoft.com/office/powerpoint/2010/main" val="14060490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56B0530-9B28-43FA-870C-00AB0050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B2B application: merchant operations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52FC7C5-3910-4F6A-8507-C69398A3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10972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A standalone cloud inventory product—not just a marketplace upload form.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5B31E5-F65D-4D19-A12A-ED3E6FB5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6583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45DE6D9-8C3D-478F-BFF2-8C04B391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1F25DB-A7B4-4E98-B49B-0B7DD0A9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01D5475-DF43-4DAE-828A-761D95B7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2651760" cy="16276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9609A62-D1A2-4B0F-9267-B2868411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64008" cy="1627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0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4541CA2-2D44-480C-9C5E-106A1E70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Shop &amp; staff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CDC6DF7-37E1-4082-8CEB-06C26B67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331720" cy="1042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5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Business profile, branches, roles and permissions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4F2E71E-4732-446F-8630-54BC8B3B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1417320"/>
            <a:ext cx="2651760" cy="16276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461640D-CD88-4CAE-82E9-6F8DCDC7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1417320"/>
            <a:ext cx="64008" cy="1627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AEE902D-5029-4B8E-A399-9E9BBDD2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1536192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Product catalogue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9EE7D50-6405-4005-A277-A0A50802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1920240"/>
            <a:ext cx="2331720" cy="1042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5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Categories, brands, variants, SKU/barcodes, units and images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EB582ED-3A78-45CC-B948-B9579BFB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417320"/>
            <a:ext cx="2651760" cy="16276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F42A592-9B4B-45FB-A417-0D5F5740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417320"/>
            <a:ext cx="64008" cy="1627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8F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9E88994-1D43-4E59-8D0C-74E47E58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1536192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Inventory ledger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93AE11F-079C-4F1D-970C-F9F29349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1920240"/>
            <a:ext cx="2331720" cy="1042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5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Receipts, sales, returns, adjustments, transfers and history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404FDBA-2AA1-42DE-BB06-37349EF6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417320"/>
            <a:ext cx="2651760" cy="16276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C837B62-8E51-4AE7-892A-FE83D78D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417320"/>
            <a:ext cx="64008" cy="1627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B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C2A21C8-C0CA-4FCA-816D-25C1875B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1536192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Purchases &amp; suppliers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28D9F3B-2C98-46D4-B300-938BC616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1920240"/>
            <a:ext cx="2331720" cy="1042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5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Purchase orders, supplier records, goods received and costs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766F3DDD-3CE7-4E92-83C2-71A85F93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83280"/>
            <a:ext cx="2651760" cy="16276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A3A8BA99-0F99-4DB4-BEAF-4E07F770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83280"/>
            <a:ext cx="64008" cy="1627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0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4055FC9-9C23-4AAB-BD59-6B9550C2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02152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Sales &amp; returns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CB1ACED-C55A-42A7-9EAC-6DC14736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331720" cy="1042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5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Sales entry, receipts/invoices, returns and stock deductions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140C725D-3BCB-4F64-8836-6D24A15D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383280"/>
            <a:ext cx="2651760" cy="16276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DA9488F8-92F4-4FB5-9BB9-A2F99174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383280"/>
            <a:ext cx="64008" cy="1627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09BA9D99-1BBA-4BB5-9322-452DE49F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3502152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Alerts &amp; reports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0CCCECCB-6ABF-483E-92AF-3639BF46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3886200"/>
            <a:ext cx="2331720" cy="1042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5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Low stock, valuation, movement history and fast/slow movers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EE52FDC7-DC7A-4814-A119-ADBF7E8D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83280"/>
            <a:ext cx="2651760" cy="16276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97BF362-8F65-436E-8D5A-C78D4D14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83280"/>
            <a:ext cx="64008" cy="1627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8F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E96802D-EC1F-4363-95CC-515FBFE2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3502152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Integrations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97435169-9DA7-46CA-960F-DBF139F6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3886200"/>
            <a:ext cx="2331720" cy="1042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5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CSV/Excel, APIs, webhooks and selected local connectors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DA991FF5-38CB-4702-8AF6-10F8EBF7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3383280"/>
            <a:ext cx="2651760" cy="16276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8DB1F9DC-778F-48F8-8EFD-046AF88E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3383280"/>
            <a:ext cx="64008" cy="1627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B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046FE68C-4E2C-477D-A47F-892B9DAD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3502152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B2C publishing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E609A3D5-E77E-4883-8987-3B6EC10B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3886200"/>
            <a:ext cx="2331720" cy="1042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5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Merchant-controlled product, price and stock visibility</a:t>
            </a:r>
          </a:p>
        </p:txBody>
      </p:sp>
    </p:spTree>
    <p:extLst>
      <p:ext uri="{BB962C8B-B14F-4D97-AF65-F5344CB8AC3E}">
        <p14:creationId xmlns:p14="http://schemas.microsoft.com/office/powerpoint/2010/main" val="13249981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9186864-A6CC-49FC-82B1-A4187691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Shared platform architecture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00B3FB2-8353-476A-8AA9-93B1A332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10972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Separate user experiences; shared services and authoritative inventory records.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7F017E2-CB20-487B-841F-597DD3E7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6583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5DE4F59-1155-4469-8E6A-43F9B8DA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652B33-307B-43FA-BE80-8F7729C6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D00AF9B-695A-492C-8DCA-8DA539A4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0"/>
            <a:ext cx="2971800" cy="685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4EFFC"/>
          </a:solidFill>
          <a:ln xmlns:a="http://schemas.openxmlformats.org/drawingml/2006/main">
            <a:solidFill>
              <a:srgbClr val="E4EFF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6B30995-96DC-402C-8771-C02E484B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2788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B2C consumer app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BB1A236-70BC-441A-AA46-EF0C1B23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371600"/>
            <a:ext cx="2971800" cy="685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EF5F0"/>
          </a:solidFill>
          <a:ln xmlns:a="http://schemas.openxmlformats.org/drawingml/2006/main">
            <a:solidFill>
              <a:srgbClr val="DEF5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0638098-3D30-49EE-96B8-4A739192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59" y="1554480"/>
            <a:ext cx="2788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B2B merchant app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DDB3522-8DCE-4F3A-876B-E3FAF9E5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371600"/>
            <a:ext cx="2971800" cy="685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CEFDE"/>
          </a:solidFill>
          <a:ln xmlns:a="http://schemas.openxmlformats.org/drawingml/2006/main">
            <a:solidFill>
              <a:srgbClr val="FCEF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17F873F-1AB4-4861-B659-1C923D85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554480"/>
            <a:ext cx="2788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Local sync connector</a:t>
            </a: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936F1C7D-9E5E-461F-8999-5E286F8B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084831"/>
            <a:ext cx="3886200" cy="33832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3070B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687A18A9-C92A-4F3F-87F1-F1970B3E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084831"/>
            <a:ext cx="0" cy="33832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3070B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BB879488-403B-4DD3-909B-ABF6360D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80760" y="2084831"/>
            <a:ext cx="3886200" cy="33832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3070B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62DFD870-342B-4A64-93E8-D028468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423160"/>
            <a:ext cx="8321040" cy="566928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42744"/>
          </a:solidFill>
          <a:ln xmlns:a="http://schemas.openxmlformats.org/drawingml/2006/main">
            <a:solidFill>
              <a:srgbClr val="14274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E853876-82E9-4C23-BEE0-723FA6E9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578608"/>
            <a:ext cx="795527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Authentication • API layer • Tenant authorization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AD00031-5DE2-43EE-A40C-38FEEBD4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20440"/>
            <a:ext cx="2103120" cy="10058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EABB8AB-EBEF-4153-87D5-D400398C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685032"/>
            <a:ext cx="19568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Catalogue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5C87AA6-D6B8-4809-B891-20926D79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995928"/>
            <a:ext cx="19568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9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Products &amp; variants</a:t>
            </a:r>
          </a:p>
        </p:txBody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6420BDC9-365D-469D-80DD-13EFF683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554480" y="2990088"/>
            <a:ext cx="4526280" cy="48463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14918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EAE74CC4-0410-4D0F-A46E-93BC8511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3520440"/>
            <a:ext cx="2103120" cy="10058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0C2B26B-7761-4A8F-8E2A-0834CB27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3685032"/>
            <a:ext cx="19568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Inventory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75B1D07-0FC0-44A8-877B-23DE37DC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3995928"/>
            <a:ext cx="19568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9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Ledger &amp; availability</a:t>
            </a:r>
          </a:p>
        </p:txBody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350F3124-A529-4012-A097-FA6D3273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13631" y="2990088"/>
            <a:ext cx="2167129" cy="48463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14918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5E5F33CB-622C-46BE-A183-E2D55168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224" y="3520440"/>
            <a:ext cx="2103120" cy="10058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01B584B-5EE0-4073-9DE3-3915EAC9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376" y="3685032"/>
            <a:ext cx="19568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Search/geo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A16BB06-4DE7-4789-AEA5-BE567410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376" y="3995928"/>
            <a:ext cx="19568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9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Product + nearby shops</a:t>
            </a:r>
          </a:p>
        </p:txBody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58775950-87B1-4691-8111-22B3E2AB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990088"/>
            <a:ext cx="192023" cy="48463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14918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57CEBB59-F5A7-4896-8A0C-A84C7C6C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3520440"/>
            <a:ext cx="2103120" cy="10058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3700818F-5F1A-407E-9EDD-8618D914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8" y="3685032"/>
            <a:ext cx="19568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Reservations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BD6E94B4-82F5-45F7-BE16-002F1D21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8" y="3995928"/>
            <a:ext cx="19568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9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Allocation &amp; expiry</a:t>
            </a:r>
          </a:p>
        </p:txBody>
      </p:sp>
      <p:sp>
        <p:nvSpPr>
          <p:cNvPr id="33" name="Connector 32">
            <a:extLst xmlns:a="http://schemas.openxmlformats.org/drawingml/2006/main">
              <a:ext uri="{FF2B5EF4-FFF2-40B4-BE49-F238E27FC236}">
                <a16:creationId xmlns:a16="http://schemas.microsoft.com/office/drawing/2014/main" id="{1003598D-E213-46AE-891B-182AFB5A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990088"/>
            <a:ext cx="2551176" cy="48463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14918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4DB5B58C-59A2-47CE-A0DF-BA6AE493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28" y="3520440"/>
            <a:ext cx="2103120" cy="10058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27FDA12D-0737-4DBF-AF53-31E971FF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3685032"/>
            <a:ext cx="19568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46179DAB-CEB9-4B1A-A35F-9B8D56F4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3995928"/>
            <a:ext cx="19568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9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Imports &amp; sync jobs</a:t>
            </a:r>
          </a:p>
        </p:txBody>
      </p:sp>
      <p:sp>
        <p:nvSpPr>
          <p:cNvPr id="37" name="Connector 36">
            <a:extLst xmlns:a="http://schemas.openxmlformats.org/drawingml/2006/main">
              <a:ext uri="{FF2B5EF4-FFF2-40B4-BE49-F238E27FC236}">
                <a16:creationId xmlns:a16="http://schemas.microsoft.com/office/drawing/2014/main" id="{7D296330-8173-49E5-8B83-EE616534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990088"/>
            <a:ext cx="4910328" cy="48463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14918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70975AE1-0DC6-4990-8362-5DACE08D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983480"/>
            <a:ext cx="8321040" cy="5486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>
            <a:solidFill>
              <a:srgbClr val="EFF4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EAEC1FB-C658-4B66-8F5A-60A5C51F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5120640"/>
            <a:ext cx="795527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PostgreSQL / PostGIS • Search index • Background jobs • Object storage</a:t>
            </a:r>
          </a:p>
        </p:txBody>
      </p:sp>
    </p:spTree>
    <p:extLst>
      <p:ext uri="{BB962C8B-B14F-4D97-AF65-F5344CB8AC3E}">
        <p14:creationId xmlns:p14="http://schemas.microsoft.com/office/powerpoint/2010/main" val="5460641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7AC10C0-440A-47FC-BDDB-FF2542DA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Hybrid inventory synchronization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B3192A5-7375-48F6-827B-B2D59316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10972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Support cloud-native merchants and existing systems without blindly overwriting newer stock.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A70CE40-389E-4A22-87AF-135BBA71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6583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53FCEA-DC78-41BC-B323-AE86DB32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B28A68D-8170-4E7A-9881-DA83E0D7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FB4D810-BBA2-4961-9064-C1771675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3246120" cy="10972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671954D-6505-449F-BF4D-F8F0E747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64008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0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613883B-C531-4114-BC6B-4DA37A4B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36192"/>
            <a:ext cx="292607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Cloud B2B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8837055-6064-4CB5-9454-3D48E91B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20240"/>
            <a:ext cx="2926079" cy="512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Sales &amp; purchases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1479F343-A389-4AB4-B010-F3CE17DA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2560320"/>
            <a:ext cx="3767328" cy="36576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3070B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5AEDE65-0A3F-469C-BA02-E91FEBD8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17320"/>
            <a:ext cx="3246120" cy="10972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65BE7AC-0FD2-405D-A78C-095DF3E2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17320"/>
            <a:ext cx="64008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8B43C02-7999-4674-81E0-13E6CC1F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536192"/>
            <a:ext cx="292607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Manual update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8398ED1-E25E-4120-AABF-1609068C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920240"/>
            <a:ext cx="2926079" cy="512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Authorized correction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96DC9252-DE09-4E2E-AD79-629C6A8C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80760" y="2560320"/>
            <a:ext cx="118872" cy="36576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3070B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2A7A60E8-F7E3-4DF0-9ADD-9AE35939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17320"/>
            <a:ext cx="3246120" cy="10972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6E757BA-F670-4A59-A835-19DF6B8E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17320"/>
            <a:ext cx="64008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8F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790FCE6-B7B3-41D6-AA7D-BF6D5354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536192"/>
            <a:ext cx="292607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Existing software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C4117BC-B3C3-4261-8D03-21192E4B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920240"/>
            <a:ext cx="2926079" cy="512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CSV / API / connector</a:t>
            </a:r>
          </a:p>
        </p:txBody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988A258F-12B3-475C-B1A1-DAA6F6C5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80760" y="2560320"/>
            <a:ext cx="4005072" cy="36576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3070B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454666DE-0A6E-46C1-ADF8-88C8AC8F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926080"/>
            <a:ext cx="6400800" cy="685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42744"/>
          </a:solidFill>
          <a:ln xmlns:a="http://schemas.openxmlformats.org/drawingml/2006/main">
            <a:solidFill>
              <a:srgbClr val="14274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0530994-FB64-4855-B9B8-44740FE0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108960"/>
            <a:ext cx="6035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 + conflict detection + inventory ledger</a:t>
            </a:r>
          </a:p>
        </p:txBody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29EA27AB-6861-4BBA-BF11-6C0AA15C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611880"/>
            <a:ext cx="0" cy="365759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14918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CF9F56A4-7434-4284-9538-42C078AE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977639"/>
            <a:ext cx="6400800" cy="6400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EF5F0"/>
          </a:solidFill>
          <a:ln xmlns:a="http://schemas.openxmlformats.org/drawingml/2006/main">
            <a:solidFill>
              <a:srgbClr val="DEF5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BBF9CB2-FB81-4D45-A7F6-BC75B541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151376"/>
            <a:ext cx="6035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Available-to-sell calculation → B2C search &amp; reservations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DA4AF6C9-1ADC-49D4-BFCE-B69332DC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74920"/>
            <a:ext cx="10332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3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Integration path: imports → scheduled exports → APIs/webhooks → optional local connector.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7814F28-C80F-47DD-B9A5-C5C99D1B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32120"/>
            <a:ext cx="102412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100">
                <a:solidFill>
                  <a:srgbClr val="2A3545"/>
                </a:solidFill>
                <a:latin typeface="Aptos"/>
                <a:ea typeface="Aptos"/>
                <a:cs typeface="Aptos"/>
              </a:defRPr>
            </a:pPr>
            <a:r>
              <a:t>Never blindly overwrite newer cloud stock with a stale desktop snapshot.</a:t>
            </a:r>
          </a:p>
        </p:txBody>
      </p:sp>
    </p:spTree>
    <p:extLst>
      <p:ext uri="{BB962C8B-B14F-4D97-AF65-F5344CB8AC3E}">
        <p14:creationId xmlns:p14="http://schemas.microsoft.com/office/powerpoint/2010/main" val="14292020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EFC459D-10F1-481F-AC90-F0F3B779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Stock accuracy and reservation logic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3DA48D2-70C6-4CC2-9A86-053788BD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10972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Distinguish physical stock from what can safely be promised.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D2D32A-97F0-4EFF-8F78-A51832D0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6583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A124FF3-446D-4533-901B-06B28FB0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D40DB3E-A02C-4B88-8933-76C725ED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C1CA50B-D5D2-4EFF-9426-0BD00921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474720" cy="182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2057706-C2AD-4660-BBFC-DDD28E0D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0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2139534-ED9E-4DA7-89B3-83C530B0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536192"/>
            <a:ext cx="315467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Example stock position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544958F-66EF-4E3B-84D9-48D42B98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920240"/>
            <a:ext cx="3154679" cy="1243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Physical stock: 10</a:t>
            </a:r>
            <a:br>
              <a:rPr sz="1400" b="0">
                <a:solidFill>
                  <a:srgbClr val="2A3545"/>
                </a:solidFill>
                <a:latin typeface="Aptos"/>
                <a:ea typeface="Aptos"/>
                <a:cs typeface="Aptos"/>
              </a:rPr>
            </a:br>
            <a:r>
              <a:rPr sz="14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Reserved stock: 2</a:t>
            </a:r>
            <a:br>
              <a:rPr sz="1400" b="0">
                <a:solidFill>
                  <a:srgbClr val="2A3545"/>
                </a:solidFill>
                <a:latin typeface="Aptos"/>
                <a:ea typeface="Aptos"/>
                <a:cs typeface="Aptos"/>
              </a:rPr>
            </a:br>
            <a:r>
              <a:rPr sz="14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Other committed stock: 0</a:t>
            </a:r>
            <a:br>
              <a:rPr sz="1400" b="0">
                <a:solidFill>
                  <a:srgbClr val="2A3545"/>
                </a:solidFill>
                <a:latin typeface="Aptos"/>
                <a:ea typeface="Aptos"/>
                <a:cs typeface="Aptos"/>
              </a:rPr>
            </a:br>
            <a:r>
              <a:rPr sz="14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Available to sell: 8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241882-6DDF-4808-B332-F6A0D135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3474720" cy="182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F57926C-547D-4CE3-B290-44E56269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B52FC59-5FC9-4468-ABA4-8EF56FF5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536192"/>
            <a:ext cx="315467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Reservation request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FDA762B-C6BB-4A6C-B634-262BC917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3154679" cy="1243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Check stock, allocate units atomically and set an expiry time. A request alone is not a guarantee.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4A0A924-6FD6-4075-B817-85F4B2D1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3474720" cy="182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01A25B2-500A-48F2-B504-DF095512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8F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D270ADA-E897-4184-A700-9B170313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36192"/>
            <a:ext cx="315467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Reservation expiry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CF4579D-3E6B-4F8A-951D-122738F0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0240"/>
            <a:ext cx="3154679" cy="1243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If not collected in time, release allocated units and record the change for audit.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0F58633B-95B3-477E-9C26-B9EC9E7F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0287000" cy="914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>
            <a:solidFill>
              <a:srgbClr val="EFF4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2879FD3-DDE6-490E-B304-B0DFDE10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0480"/>
            <a:ext cx="9921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Available stock = physical stock − reserved stock − other committed stock (excluding damaged, expired or quarantined items where relevant).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449FCBA-2F2E-4260-AA6D-B4E38647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200">
                <a:solidFill>
                  <a:srgbClr val="2A3545"/>
                </a:solidFill>
                <a:latin typeface="Aptos"/>
                <a:ea typeface="Aptos"/>
                <a:cs typeface="Aptos"/>
              </a:defRPr>
            </a:pPr>
            <a:r>
              <a:t>Use atomic allocation to prevent double reservation of the last unit.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200">
                <a:solidFill>
                  <a:srgbClr val="2A3545"/>
                </a:solidFill>
                <a:latin typeface="Aptos"/>
                <a:ea typeface="Aptos"/>
                <a:cs typeface="Aptos"/>
              </a:defRPr>
            </a:pPr>
            <a:r>
              <a:t>Make retries idempotent; reconcile external snapshots; retain an auditable stock movement history.</a:t>
            </a:r>
          </a:p>
        </p:txBody>
      </p:sp>
    </p:spTree>
    <p:extLst>
      <p:ext uri="{BB962C8B-B14F-4D97-AF65-F5344CB8AC3E}">
        <p14:creationId xmlns:p14="http://schemas.microsoft.com/office/powerpoint/2010/main" val="246961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45B325E-014C-46A7-84F3-5D99CB6E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Core data model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103DD07-00D7-4701-B323-C8D3CEE9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10972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A shared, category-flexible foundation avoids rebuilding for every retail segment.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4BF9DAF-EECA-45B3-86CC-CC1B2231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6583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641B43E-FCDF-406E-9B9D-87EA0BD8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20AA58E-7CE2-481C-B87A-5D3AAED2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398B35C-74A3-4904-A7B1-AC606380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2651760" cy="1417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7210554-7083-4073-97AF-7B9D5FA5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0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F34B299-CCE7-4E04-BA63-B5FAD6CF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Tenant / Merchant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617071D-9E87-49C8-92CB-4912F3FC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33172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Owner, plan, settings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9A89C33-0915-4806-AEBF-FC3AC0C9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1417320"/>
            <a:ext cx="2651760" cy="1417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0B59648-8916-4C75-A7D4-3F02047F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141732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4EE61F6-9E51-489E-9A9A-6C32C22F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1536192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Shop / Branch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9B52D87-6273-43AC-B059-A33439E6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1920240"/>
            <a:ext cx="233172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Location, hours, contact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E7C062D-0DFF-4552-A120-87EE8933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417320"/>
            <a:ext cx="2651760" cy="1417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EA7C958-2616-4697-BF18-E6C5F4B8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41732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8F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D97862B-93DF-473D-9BFF-FE0C4455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1536192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Product / Variant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C2558E0-5B00-4EC1-AC09-73E21805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1920240"/>
            <a:ext cx="233172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Canonical product, SKU, category attributes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5891726C-3E5D-42FE-8D9D-B5581DEC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417320"/>
            <a:ext cx="2651760" cy="1417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CBA7106-3AED-4086-B92B-340C2E6C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41732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B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6CA0856-7539-4094-8B3C-19CAEF0D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1536192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Inventory Position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94643F3-932B-4DF9-B4B1-67B484C2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1920240"/>
            <a:ext cx="233172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Shop + variant + physical/reserved/available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757BF6D5-ED85-4DB2-86B3-CAF5BAE1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6120"/>
            <a:ext cx="2651760" cy="1417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8ACCF58-7762-49C0-B106-F31D9B48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612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0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558F3C4-B191-4C36-A3BB-BCB9369E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64991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Stock Movement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709E8CF-8A44-4601-8D8E-F65A7562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49039"/>
            <a:ext cx="233172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Receipt, sale, return, adjustment, transfer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F7936132-0672-4DB3-9AEB-FD8FCDDF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246120"/>
            <a:ext cx="2651760" cy="1417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610EF54-D5E6-43A2-82AC-BEEB61C8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24612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07961B9-249A-4926-94B4-8CC227D3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3364991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Reservation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327C1AA-2726-4DAD-B3C3-A6A90E28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3749039"/>
            <a:ext cx="233172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Request, quantity, state, expiry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25EEEF6A-75AF-49E9-9155-EA953106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246120"/>
            <a:ext cx="2651760" cy="1417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1EB43BA-DE0C-4C2C-9385-25C344E0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24612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8F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1D68E820-7256-49B9-9AF3-11FD8181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3364991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Integration Source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8FFC5C16-8EAA-4DEA-9065-D42D5429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3749039"/>
            <a:ext cx="233172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Connector, last sync, errors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6EA82EC4-797F-4383-B468-CBD48D41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3246120"/>
            <a:ext cx="2651760" cy="14173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C00F985C-7C77-43C1-94FC-2B81CC66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324612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B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96280F46-7426-4A7C-AA6B-AA84E06C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3364991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Publication Settings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B39B7749-F8CF-4333-A885-273F4EE3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3749039"/>
            <a:ext cx="233172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Which product/stock fields are public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A23F906E-2C0A-4D59-BDAA-19D06EC2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49240"/>
            <a:ext cx="10607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400" b="1">
                <a:solidFill>
                  <a:srgbClr val="C24949"/>
                </a:solidFill>
                <a:latin typeface="Aptos"/>
                <a:ea typeface="Aptos"/>
                <a:cs typeface="Aptos"/>
              </a:rPr>
              <a:t>Every record must be tenant-scoped, auditable and permission-checked.</a:t>
            </a:r>
          </a:p>
        </p:txBody>
      </p:sp>
    </p:spTree>
    <p:extLst>
      <p:ext uri="{BB962C8B-B14F-4D97-AF65-F5344CB8AC3E}">
        <p14:creationId xmlns:p14="http://schemas.microsoft.com/office/powerpoint/2010/main" val="15515941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2D86D19-A349-4750-9240-4E1AD310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Recommended technology baseline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65BDECF-F1F7-4534-A833-121685BF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10972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Start with a modular monolith; split services only when scale or team boundaries justify it.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BBAE71-C690-4FF5-A20D-F6226ED5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6583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AFFEB10-B00F-4465-9895-BAB70996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3D0E616-59A0-49F9-83D7-2F6DD996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5283C26-68B0-451A-8AC7-8CA9ACCD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0"/>
            <a:ext cx="155448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>
            <a:solidFill>
              <a:srgbClr val="EFF4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FDB75E2-EE21-4710-9B6C-65DBE73B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08176"/>
            <a:ext cx="148132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D0788DE-6B15-4154-B3D0-1076F74D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353312"/>
            <a:ext cx="8915400" cy="566928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A3D5AFB-F3BE-420B-AA17-0300C11D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481328"/>
            <a:ext cx="84124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React / Next.js responsive web; merchant PWA; mobile app later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E73127E-C384-4636-A4BD-87EEDD6F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21408"/>
            <a:ext cx="155448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>
            <a:solidFill>
              <a:srgbClr val="EFF4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3FC50E3-7B31-48F2-9113-FF1C4659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57984"/>
            <a:ext cx="148132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8CE1ABF-6C97-4065-B05A-0ECB6892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2103120"/>
            <a:ext cx="8915400" cy="566928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DEA8746-DE91-4368-9381-8F0A4345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231136"/>
            <a:ext cx="84124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NestJS / TypeScript or FastAPI / Python with clear module boundaries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636BCC7-A507-4005-BA78-40DFFA2B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71215"/>
            <a:ext cx="155448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>
            <a:solidFill>
              <a:srgbClr val="EFF4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A64F397-F7E7-4A8F-87F8-67EDB978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907791"/>
            <a:ext cx="148132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376D2BFF-85E8-4CE5-A60A-5A6BBCDC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2852927"/>
            <a:ext cx="8915400" cy="566928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1D4C474-8FF3-445E-BED3-44064CFD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980944"/>
            <a:ext cx="84124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PostgreSQL for transactions; PostGIS for nearby-shop queries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ADFA4246-7444-4787-8ACB-3B3E10EE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21024"/>
            <a:ext cx="155448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>
            <a:solidFill>
              <a:srgbClr val="EFF4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277E3FD-74F3-44AB-9AFC-A5B7A7B6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657600"/>
            <a:ext cx="148132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04DB8527-6355-4195-9626-F8984261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3602736"/>
            <a:ext cx="8915400" cy="566928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BB14467-B4E5-4FE2-878D-EC482F1A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3730752"/>
            <a:ext cx="84124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PostgreSQL initially; dedicated search engine when needed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F8C09F08-9AD1-4805-A37A-98176D25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70831"/>
            <a:ext cx="155448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>
            <a:solidFill>
              <a:srgbClr val="EFF4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2EF7157-07F9-4C26-87A8-D093B20A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07407"/>
            <a:ext cx="148132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Jobs &amp; events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443613D9-B34C-43A9-AB02-BCE7AC4C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4352544"/>
            <a:ext cx="8915400" cy="566928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9F89CE8-A01C-47EC-8B60-E1B08E1B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4480559"/>
            <a:ext cx="84124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Background jobs for imports, indexing, notifications and sync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429F4ECE-981E-42EB-977C-2B9FAD43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20640"/>
            <a:ext cx="155448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>
            <a:solidFill>
              <a:srgbClr val="EFF4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6AE825F-3B8E-4494-8060-0B162B57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157216"/>
            <a:ext cx="148132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Storage &amp; ops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9ABB3F91-BFD7-4E05-B4D1-BE5B0FBD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5102352"/>
            <a:ext cx="8915400" cy="566928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83676D1-EF65-4F54-882E-DAA43BE0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5230368"/>
            <a:ext cx="84124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Object storage, managed backups, logs, monitoring and alerts</a:t>
            </a:r>
          </a:p>
        </p:txBody>
      </p:sp>
    </p:spTree>
    <p:extLst>
      <p:ext uri="{BB962C8B-B14F-4D97-AF65-F5344CB8AC3E}">
        <p14:creationId xmlns:p14="http://schemas.microsoft.com/office/powerpoint/2010/main" val="21139576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4ECF3E7-3469-42AD-84C3-F3CC7789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Security, privacy and reliability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D8A1003-45B4-49C1-B0EF-E52E63F7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10972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Trust depends on safe merchant data and predictable inventory operations.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E2EA803-375C-4983-BA9A-633AAE54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6583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2BFD675-74FE-419C-B3F0-FCBD5A32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B132901-1C5E-464D-BDC3-7DF49067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1DAE78D-A229-428D-9D07-90E6E310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474720" cy="17373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B9BE967-3031-47A4-B6BA-15AF9A2A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64008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0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566DF94-06F3-401F-B0FE-4C96DC6D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536192"/>
            <a:ext cx="315467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Tenant isolation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7B89BDD-3F66-49D4-B8C1-A936053B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920240"/>
            <a:ext cx="3154679" cy="11521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Every merchant, branch, staff role, stock record and reservation is correctly scoped.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4F31C45-CDC3-40B9-8FF6-14482D7E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3474720" cy="17373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00C5E00-2C1E-4015-808E-28978768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64008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DB228A2-CC4C-4A32-9FA8-0C0DE882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536192"/>
            <a:ext cx="315467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Auditability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EDC6F58-C6C9-4BA7-89A4-CF7F1DD9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3154679" cy="11521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Track who changed stock, source, timestamp, reason and reconciliation outcome.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1DF5E15-83F9-420C-BCBE-2FD946F3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3474720" cy="17373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39E2FBF-7C96-43B1-8ABC-1BB24DDE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64008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8F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0896D38-CC0F-4211-9735-6C24A227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36192"/>
            <a:ext cx="315467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Reliability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95B42AD-5E57-49AA-98EC-E41CB7A2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0240"/>
            <a:ext cx="3154679" cy="11521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Backups, monitoring, sync health, retry handling, idempotency and recovery.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7360280-77A8-4330-9755-3CF98DDD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66160"/>
            <a:ext cx="1042416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2A3545"/>
                </a:solidFill>
                <a:latin typeface="Aptos"/>
                <a:ea typeface="Aptos"/>
                <a:cs typeface="Aptos"/>
              </a:defRPr>
            </a:pPr>
            <a:r>
              <a:t>Use role-based permissions, secure sessions, encryption in transit and appropriate encryption at rest.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2A3545"/>
                </a:solidFill>
                <a:latin typeface="Aptos"/>
                <a:ea typeface="Aptos"/>
                <a:cs typeface="Aptos"/>
              </a:defRPr>
            </a:pPr>
            <a:r>
              <a:t>Publish only merchant-authorized product and stock data; minimize consumer personal data.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2A3545"/>
                </a:solidFill>
                <a:latin typeface="Aptos"/>
                <a:ea typeface="Aptos"/>
                <a:cs typeface="Aptos"/>
              </a:defRPr>
            </a:pPr>
            <a:r>
              <a:t>Protect APIs from abuse and rate-limit search and reservation operations.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2A3545"/>
                </a:solidFill>
                <a:latin typeface="Aptos"/>
                <a:ea typeface="Aptos"/>
                <a:cs typeface="Aptos"/>
              </a:defRPr>
            </a:pPr>
            <a:r>
              <a:t>Create incident handling, backup restoration and retention policies before broad rollout.</a:t>
            </a:r>
          </a:p>
        </p:txBody>
      </p:sp>
    </p:spTree>
    <p:extLst>
      <p:ext uri="{BB962C8B-B14F-4D97-AF65-F5344CB8AC3E}">
        <p14:creationId xmlns:p14="http://schemas.microsoft.com/office/powerpoint/2010/main" val="15285946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5E8BD68-33FD-4342-A9A7-63D62295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Category-specific safeguards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C5E3157-0ED7-48CD-8086-C7232D23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10972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Shared foundations plus category-specific attributes and rules.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628446-54B5-4E75-8E53-D5DC2051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6583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BA0EC86-1F18-482C-BFB7-E07FA94F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9850EA3-EAE3-4048-B4EB-541E61C2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7E21132-D979-4FBB-95AC-DD79957F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303520" cy="34747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00D4173-DBE0-4E21-BFB7-F77C090E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64008" cy="3474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94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D2B2B7E-868C-4617-B29E-A3BCF797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536192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Pharmacy / medical retail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366583C-45B3-4843-B2CA-1DE0CED5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920240"/>
            <a:ext cx="4983480" cy="28895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• Match brand, strength, dosage form and pack size.</a:t>
            </a:r>
            <a:b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</a:b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• Do not treat similar products as interchangeable or provide medical advice through search.</a:t>
            </a:r>
            <a:b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</a:b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• Handle batch/expiry/recall data where applicable.</a:t>
            </a:r>
            <a:b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</a:b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• Follow applicable Indian rules for prescription handling, dispensing, advertising and privacy.</a:t>
            </a:r>
            <a:b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</a:b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• Public discovery must not bypass pharmacy requirements.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1EFF41D2-E2DD-4520-8AEA-C1F83954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303520" cy="34747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811F4C1-7388-4059-AAF9-8BFC31F3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64008" cy="3474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3423AAB-2C6F-4137-AC00-AF12011C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36192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Other retail categories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F2F0ECF-1911-4937-B49E-C81BFAD1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4983480" cy="28895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• Electronics: model, compatibility, serial number and warranty.</a:t>
            </a:r>
            <a:b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</a:b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• Apparel: size, colour and variant.</a:t>
            </a:r>
            <a:b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</a:b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• Grocery: unit, weight, batch and expiry where relevant.</a:t>
            </a:r>
            <a:b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</a:b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• Hardware: dimensions, material and units.</a:t>
            </a:r>
            <a:b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</a:b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• Stationery/pet supplies: brand, size and package quantity.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65DC68A-85F6-4710-916C-3F856EEA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424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3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Build the category framework once; validate each category's operational and regulatory requirements before launch.</a:t>
            </a:r>
          </a:p>
        </p:txBody>
      </p:sp>
    </p:spTree>
    <p:extLst>
      <p:ext uri="{BB962C8B-B14F-4D97-AF65-F5344CB8AC3E}">
        <p14:creationId xmlns:p14="http://schemas.microsoft.com/office/powerpoint/2010/main" val="16676452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2C1E91D-DDF2-4802-8B92-4BDA6DF3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7E15742-4652-42D4-9CBE-643076A7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10972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Combine recurring merchant revenue with optional marketplace monetization.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9349A3C-171D-45AD-B3A6-BFC11324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6583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5D8C721-C884-4C58-BE3C-B382B12C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436F01F-A54A-40AB-863A-F7AADE69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5C04E78-3072-4484-898C-E9975ACF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0"/>
            <a:ext cx="214884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>
            <a:solidFill>
              <a:srgbClr val="EFF4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6F34830-7F23-475C-90D8-997AE88D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08176"/>
            <a:ext cx="207568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B2B subscription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985ACAE-DC66-40C1-8E1A-8DC28505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1353312"/>
            <a:ext cx="8229600" cy="62179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E073E7D-A5B1-49A2-BACF-F097B005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481328"/>
            <a:ext cx="7818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Starter plan; paid tiers for reports, branches, staff controls and integrations.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113A0F1-A082-4E8B-99A4-24F06812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21992"/>
            <a:ext cx="214884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>
            <a:solidFill>
              <a:srgbClr val="EFF4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A02639A-574A-4501-82CC-B22F76AA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258568"/>
            <a:ext cx="207568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Premium services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99AAF9A-446A-49A7-9AB9-B945F8E2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203704"/>
            <a:ext cx="8229600" cy="62179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986DAAB-579C-4AB7-BB32-1CDC171E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331720"/>
            <a:ext cx="7818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Automated synchronization, bulk tools, analytics and migration support.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040F606-1139-45BC-A184-44EEA50F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72384"/>
            <a:ext cx="214884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>
            <a:solidFill>
              <a:srgbClr val="EFF4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ED8C08E-9005-45B3-9494-8DAE27E9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108960"/>
            <a:ext cx="207568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Sponsored discovery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2627C6D1-156A-445A-99B9-C7828CBF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054096"/>
            <a:ext cx="8229600" cy="62179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323A5EC-C192-4275-BFA9-EAC4FFB6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3182112"/>
            <a:ext cx="7818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Clearly labelled promoted listings; never imply paid placement guarantees stock.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F75BA2F-AC02-42F4-9C8B-FF72C234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22776"/>
            <a:ext cx="214884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>
            <a:solidFill>
              <a:srgbClr val="EFF4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80DB577-18E7-4858-B5DC-58A3AD93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959352"/>
            <a:ext cx="207568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Reservation / transaction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6EDF572-5382-4731-AE8E-AB424CAB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904488"/>
            <a:ext cx="8229600" cy="62179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E60C5DD-4978-4B31-824C-92C0C45E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4032504"/>
            <a:ext cx="7818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Optional fees when value and merchant agreements justify them.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B6163CCB-3C12-41CA-BE62-95C75D77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73168"/>
            <a:ext cx="214884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>
            <a:solidFill>
              <a:srgbClr val="EFF4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1DA063E-58DC-410E-856A-62C3DB93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809744"/>
            <a:ext cx="207568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Enterprise / API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4FDB7C5F-85F1-4988-B8C5-AA246D63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754880"/>
            <a:ext cx="8229600" cy="62179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78560B5-9E43-424A-8F34-F8140395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4882896"/>
            <a:ext cx="7818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Paid integrations for chains, distributors and third-party platforms.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D7CAADDC-3071-48B8-A32E-379E39B5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0241280" cy="384048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EF5F0"/>
          </a:solidFill>
          <a:ln xmlns:a="http://schemas.openxmlformats.org/drawingml/2006/main">
            <a:solidFill>
              <a:srgbClr val="DEF5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031DD9B8-4877-425D-B71C-C531BD3C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779008"/>
            <a:ext cx="9966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00" b="1">
                <a:solidFill>
                  <a:srgbClr val="268B5E"/>
                </a:solidFill>
                <a:latin typeface="Aptos"/>
                <a:ea typeface="Aptos"/>
                <a:cs typeface="Aptos"/>
              </a:rPr>
              <a:t>Keep entry affordable; prove merchant value before pushing paid plans.</a:t>
            </a:r>
          </a:p>
        </p:txBody>
      </p:sp>
    </p:spTree>
    <p:extLst>
      <p:ext uri="{BB962C8B-B14F-4D97-AF65-F5344CB8AC3E}">
        <p14:creationId xmlns:p14="http://schemas.microsoft.com/office/powerpoint/2010/main" val="19880212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3B96F26-8FFC-4BF4-99A3-5B909166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Key risks and mitigations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C1256ED-B044-4B3F-93FA-E4625F70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10972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The largest risks are operational and ecosystem-related—not only technical.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767056B-A5FF-40B5-9346-80852C25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6583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21E8A5C-B6C8-4D63-B990-B007E046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44CBB04-CDB7-417E-BB28-41E02B22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0F46836-56AC-4218-B676-92F20FE2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5303520" cy="11704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54BD692-7018-425D-8C67-C5D6DCAF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94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91E242C-A77C-4DC3-A38D-48C0D4C1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490472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Stale inventory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6250DC6-67DF-4BAE-AB23-4FFBE638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874519"/>
            <a:ext cx="49834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Freshness timestamps, sync monitoring, stale-state labels and reconciliation.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D2ACB9D-27DA-4DF1-8096-B7714200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371600"/>
            <a:ext cx="5303520" cy="11704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60913AF-F974-42FC-8DE5-E69AC3B4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371600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8F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61F376B-CA00-4CBA-B18C-E6EC4AE0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490472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Legacy integration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34997EE-5947-4464-AA17-0A952F9D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74519"/>
            <a:ext cx="49834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Start with imports; integrate common systems based on evidence.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F3069117-6E49-4EEA-91AD-96425BE4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88920"/>
            <a:ext cx="5303520" cy="11704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0D95AF3-98C1-4A7B-A376-6DBDFD1C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88920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0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A795193-F15F-4300-942E-6850ACFB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2907791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Cold start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0441FF3-E0A7-4610-B34B-1716B1AF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3291839"/>
            <a:ext cx="49834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Recruit merchants locally; make B2B valuable independently.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6E4B8BD-98FA-4739-B7C1-694426F8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788920"/>
            <a:ext cx="5303520" cy="11704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6D9B0CE-56A4-4FA7-BE37-7B82E969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788920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A9368F5-695A-4B64-A101-F184F916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907791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Double reservation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5E6FCDA-B567-45D8-B82F-1F90A9DC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91839"/>
            <a:ext cx="49834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Atomic allocation, expiry rules and idempotent operations.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260B5D90-9515-4A29-94AE-1AD86723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5303520" cy="11704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5DE9CC6-1480-473A-A075-4035F9E1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B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35BB157-6168-426F-8159-7AC53CBD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4325112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Catalogue mismatch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F06F712-F7D6-41D2-9F37-D63D0FAA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4709159"/>
            <a:ext cx="49834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Canonical products, variants, units and mapping tools.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43CCD938-F443-41C2-94A4-C3E2811C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206240"/>
            <a:ext cx="5303520" cy="11704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67519B5-2B2E-4D47-9B99-FE49808A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206240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94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71CD1A6-5304-4AFA-AD66-0A815F8D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25112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Data leakage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CC30882-A301-444E-8C69-A06D1071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09159"/>
            <a:ext cx="49834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Tenant isolation, authorization tests, audit logs and security review.</a:t>
            </a:r>
          </a:p>
        </p:txBody>
      </p:sp>
    </p:spTree>
    <p:extLst>
      <p:ext uri="{BB962C8B-B14F-4D97-AF65-F5344CB8AC3E}">
        <p14:creationId xmlns:p14="http://schemas.microsoft.com/office/powerpoint/2010/main" val="16828676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48AFFB6-11EE-4EB5-BC2D-3FA007ED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Implementation roadmap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D8C7FD8-91E4-4ABB-B7F8-507605AC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10972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Validate the operational loop before expanding into advanced commerce.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3B0935A-1829-4D14-AC11-BB4D62A3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6583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2704539-A257-4D5E-A807-F2EE29CD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13796C9-E453-4E9B-8FAD-45C66EA4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801D628-8E80-4616-AABB-F89BA7E2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00200"/>
            <a:ext cx="2651760" cy="29260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285AFF1-9B25-40C0-9FC1-25FD5374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25880"/>
            <a:ext cx="201168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070BE"/>
          </a:solidFill>
          <a:ln xmlns:a="http://schemas.openxmlformats.org/drawingml/2006/main">
            <a:solidFill>
              <a:srgbClr val="3070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A521512-A576-44F3-91FA-7FB02D01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1362456"/>
            <a:ext cx="193852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4EA460A-1FCB-4F92-A139-FB687F68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2286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5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Merchant foundation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47A82E9-8FFB-455A-9790-65F51E78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97480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Cloud inventory, catalogue, stock ledger, sales/purchases, reports, CSV import.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D976393F-D12A-4F90-A5B4-6A40C5DD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2971800"/>
            <a:ext cx="210312" cy="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E08F3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9614E25-C177-45FE-82D7-1248F4EB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1600200"/>
            <a:ext cx="2651760" cy="29260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E986A14-0D08-406B-8EEF-0CE7CDDB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1" y="1325880"/>
            <a:ext cx="201168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070BE"/>
          </a:solidFill>
          <a:ln xmlns:a="http://schemas.openxmlformats.org/drawingml/2006/main">
            <a:solidFill>
              <a:srgbClr val="3070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16E6026-CBEC-488F-B88F-B65EF75D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68" y="1362456"/>
            <a:ext cx="193852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B2C3932-AD51-4E2F-B57D-80282CEC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1965960"/>
            <a:ext cx="2286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5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Consumer discovery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4BDE10A-AA8E-4CCE-877B-EFA39FF1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2697480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Product/category search, nearby shops, availability freshness, contact and directions.</a:t>
            </a: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C487EA9B-7402-4E45-BD74-CE92F73C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71800"/>
            <a:ext cx="210312" cy="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E08F3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8DDD75A-E84D-4264-917C-68007548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600200"/>
            <a:ext cx="2651760" cy="29260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F2FEE156-D684-468B-BFF5-23D35E17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1325880"/>
            <a:ext cx="201168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49187"/>
          </a:solidFill>
          <a:ln xmlns:a="http://schemas.openxmlformats.org/drawingml/2006/main">
            <a:solidFill>
              <a:srgbClr val="14918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7B53888-EA6D-469A-A22F-3DEC5145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362456"/>
            <a:ext cx="193852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3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0ADF308-AFAD-495F-ABBE-9DF06463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1965960"/>
            <a:ext cx="2286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5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Reservations &amp; sync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7759D70-C5BC-4836-BBC9-5A1DA8A3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2697480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Confirmation, allocation/expiry, notifications, sync health and selected imports.</a:t>
            </a:r>
          </a:p>
        </p:txBody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CCC918B1-C485-4F94-A9AA-5223E364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2971800"/>
            <a:ext cx="210312" cy="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E08F3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17782603-8146-4C17-8745-485DB6EF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600200"/>
            <a:ext cx="2651760" cy="29260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E47E4C7F-483C-4DA5-B980-96A42486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7776" y="1325880"/>
            <a:ext cx="201168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49187"/>
          </a:solidFill>
          <a:ln xmlns:a="http://schemas.openxmlformats.org/drawingml/2006/main">
            <a:solidFill>
              <a:srgbClr val="14918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D48BF54E-BB25-4E5E-A4AA-D50C8306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1362456"/>
            <a:ext cx="193852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4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0BEE7ACB-E4C4-496D-BD63-FD1E2C63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1965960"/>
            <a:ext cx="2286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5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Expansion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3D4DE1F-1E00-41C0-9E3D-54636629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336" y="2697480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Local connectors, POS/ERP, multi-branch tools, analytics and commerce add-ons.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82A61E7-1AC3-45E7-84E9-9C522D78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74920"/>
            <a:ext cx="10515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3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Phases are scope gates, not fixed deadlines; timing depends on integration complexity and pilot results.</a:t>
            </a:r>
          </a:p>
        </p:txBody>
      </p:sp>
    </p:spTree>
    <p:extLst>
      <p:ext uri="{BB962C8B-B14F-4D97-AF65-F5344CB8AC3E}">
        <p14:creationId xmlns:p14="http://schemas.microsoft.com/office/powerpoint/2010/main" val="16605510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5A8AB8E-9BD2-4AAC-90DC-5024F9AE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Validation plan: prove demand before scaling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7DB161C-E883-48A4-8935-5072562E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10972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Test merchant adoption, stock accuracy and consumer usefulness with a small pilot.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96F4931-9CE5-4EDF-980F-D6BE4897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6583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E410062-5B74-4C56-A26C-ED589FBD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E999EAF-6D27-4942-A09A-DDDB64C3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0639BFF-BE80-421C-990B-D80C123D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25880"/>
            <a:ext cx="155448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>
            <a:solidFill>
              <a:srgbClr val="EFF4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9D8977E-6A51-4A75-BF01-E9056D44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362456"/>
            <a:ext cx="148132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1. Interview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53F6A50-BADF-4DF8-87FD-15AC5139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307592"/>
            <a:ext cx="8915400" cy="62179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7F03B71-5EBD-44FF-91F5-0B1D39B1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417320"/>
            <a:ext cx="8458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Talk to target users about recent incidents, current workarounds and willingness to pay.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1E1D968-CFCB-45D5-8BB5-EAFAEE8F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76272"/>
            <a:ext cx="155448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>
            <a:solidFill>
              <a:srgbClr val="EFF4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6B13171-3C9D-4DC6-B780-E42323DB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212848"/>
            <a:ext cx="148132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2. Audit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66D0977-87B5-459B-AA90-171B18EB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2157984"/>
            <a:ext cx="8915400" cy="62179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D53F1E8-3A64-4B0E-9CE4-5E65C751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267712"/>
            <a:ext cx="8458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Identify common desktop inventory tools and test exports, APIs and integration constraints.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96EA423-7356-489F-A973-7E9E2E1E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26664"/>
            <a:ext cx="155448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>
            <a:solidFill>
              <a:srgbClr val="EFF4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3B75C0C-AE1C-478D-8244-09014048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063240"/>
            <a:ext cx="148132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3. Prototype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1DFE9EA1-7DA4-450B-8549-3BC3CA74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3008376"/>
            <a:ext cx="8915400" cy="62179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C0C0777-1970-42B2-AD8A-39A8D8E2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3118104"/>
            <a:ext cx="8458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Test merchant stock workflows and consumer search/reservation screens.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17481D6-886D-4CD0-ABE2-6FA15E28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7056"/>
            <a:ext cx="155448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>
            <a:solidFill>
              <a:srgbClr val="EFF4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350B19D-9D32-4D8F-93F4-8E4B4CAA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913632"/>
            <a:ext cx="148132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4. Pilot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3E51C236-9406-4C1C-8AFA-32A6123C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3858768"/>
            <a:ext cx="8915400" cy="62179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48A51B0-1902-4897-8F8B-D244D680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3968496"/>
            <a:ext cx="8458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Onboard merchants in one locality and observe real inventory updates and reservations.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546661D3-BE3C-48F8-8038-170ECA83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27448"/>
            <a:ext cx="155448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>
            <a:solidFill>
              <a:srgbClr val="EFF4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2D0434D-45B1-43A0-B5DB-F18814A5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764024"/>
            <a:ext cx="148132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5. Decide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15209996-15B9-4265-BA63-1FA77E65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4709160"/>
            <a:ext cx="8915400" cy="62179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60EA8E1-F238-415D-AE11-83DBB338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4818888"/>
            <a:ext cx="8458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Expand after measuring accuracy, usage, retention and willingness to pay.</a:t>
            </a:r>
          </a:p>
        </p:txBody>
      </p:sp>
    </p:spTree>
    <p:extLst>
      <p:ext uri="{BB962C8B-B14F-4D97-AF65-F5344CB8AC3E}">
        <p14:creationId xmlns:p14="http://schemas.microsoft.com/office/powerpoint/2010/main" val="14619506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CA01C02-E5B8-42D2-9B5F-E5E57308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Pilot success metrics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DF45A9F-6DD1-41A6-A127-4354731D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10972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Measure useful outcomes—not downloads alone.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13DD504-FF10-44C9-9980-BD8F5576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6583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1403578-6915-498A-BD9A-BD16D3E2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2FD5670-86B5-44C4-834A-7EE418F8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035184A-D58C-4726-804B-BEB39727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3520440" cy="15544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6FF0074-0B8A-4F74-9F6F-AD6E0F30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64008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0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3BF30E1-A32F-41F4-92A1-675C121C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581912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Inventory freshness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314638A-580F-4823-83F0-D79FA0F8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965960"/>
            <a:ext cx="320040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Share of shops updated within an agreed freshness window.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1D7321F2-38A1-49EC-99B0-951D493A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463040"/>
            <a:ext cx="3520440" cy="15544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1DA8E9A-6F69-4A8A-8B15-5BDA9D42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463040"/>
            <a:ext cx="64008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38B4120-1C76-4BCA-8944-7391C95F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581912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Search success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1FFF0F8-34F8-4127-BECB-6560DCDE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65960"/>
            <a:ext cx="320040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Share of searches returning relevant products and shops.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098554DF-615C-4EFF-9E3F-EDB67309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463040"/>
            <a:ext cx="3520440" cy="15544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F58DA4A-5988-4BFE-A4A7-BEDEB644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463040"/>
            <a:ext cx="64008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8F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53D7BE8-E685-4867-9BE7-425EB02B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19" y="1581912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Availability confidence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A8C8208-AE7C-42D1-A96D-AB8F327C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19" y="1965960"/>
            <a:ext cx="320040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Share of results with current, credible stock data.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9F40970-DEA6-4CEC-A544-0CBE56C2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83280"/>
            <a:ext cx="3520440" cy="15544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89C5B4A-24C4-4494-A199-D180B70A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83280"/>
            <a:ext cx="64008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0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765A117-CC27-4467-A74C-242C0AE3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3502152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Reservation fulfilment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A1C0B0A-64CE-47C0-BEF0-66273FA5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3886200"/>
            <a:ext cx="320040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Acceptance, cancellation, expiry and successful pickup rates.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D783E48C-53DB-42B1-BF65-4342AFD3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383280"/>
            <a:ext cx="3520440" cy="15544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C9BBA5A3-7411-4C45-B937-43D96327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383280"/>
            <a:ext cx="64008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6FC8CFE-91BB-43E4-9A8B-1E765150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502152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Consumer value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31280C1-E75A-462F-91E4-85905B57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886200"/>
            <a:ext cx="320040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Avoided trips and successful product discovery.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E93179CE-A349-4323-A5CF-3D3AEC19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383280"/>
            <a:ext cx="3520440" cy="15544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634C75A6-343E-49B4-A6FD-8D2B7431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383280"/>
            <a:ext cx="64008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8F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4BCB7A5-4CD0-4474-A4EF-1D5CC6A2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19" y="3502152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Merchant value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09AC98A-FCEC-464D-9166-1D1E824D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19" y="3886200"/>
            <a:ext cx="320040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Weekly active shops, retention, time saved and paid conversion.</a:t>
            </a:r>
          </a:p>
        </p:txBody>
      </p:sp>
    </p:spTree>
    <p:extLst>
      <p:ext uri="{BB962C8B-B14F-4D97-AF65-F5344CB8AC3E}">
        <p14:creationId xmlns:p14="http://schemas.microsoft.com/office/powerpoint/2010/main" val="17179221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4E17C8A-611C-4D5C-82F7-84E17B53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Future enhancements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A2D8CC2-8F41-4E5E-8E87-73ABCFDA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10972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Expand when the core inventory and discovery loop is reliable.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0BAC1E9-DE59-4AFF-83AC-DCCF5237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6583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332A523-3519-4E7A-8FEF-AA31E54D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865DEF3-D9E2-4723-9AF1-74BC36F2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1D71B56-DCA3-4618-B2BF-D8FAA81D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5303520" cy="11704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28AA574-6C88-4690-BC63-1BE6B277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0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4369E0E-0D13-45F8-A79A-52500B02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490472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Merchant intelligence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C313610-8C6E-45D2-87C5-4531E0E6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874519"/>
            <a:ext cx="49834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Demand trends, reorder suggestions, profit and supplier analytics.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A286240-643A-4179-8A2B-2FF9A5B6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371600"/>
            <a:ext cx="5303520" cy="11704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44068BB-8F72-4429-8BAD-2B46390F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371600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275AB4D-7C9E-49B9-BD8B-04351FCB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490472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Local commerce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F753715-B828-4BE7-B690-90FAA0D8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74519"/>
            <a:ext cx="49834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Click-and-collect, online ordering, delivery partners and order tracking.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9BEC60F-7A9A-4D7F-B2E4-9CB64B44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88920"/>
            <a:ext cx="5303520" cy="11704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DBBE3D8-AFE8-4E6E-BBBF-73A9DF9C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88920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8F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7B3F6F4-5F76-45FD-A5A1-AB35543A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2907791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Integration ecosystem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1C816F6-2056-4245-8263-63CBC83E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3291839"/>
            <a:ext cx="49834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POS/ERP connectors, distributor catalogues, supplier ordering and APIs.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5BF9994E-7203-4A43-B02B-FDFF0E5C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788920"/>
            <a:ext cx="5303520" cy="11704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3FFE59F-00A8-4447-A727-4B4E692A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788920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0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0C95B22-74A3-4F8F-A249-DFE5DE56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907791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Regional expansion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0A5B4FE-775E-4161-897D-85188814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91839"/>
            <a:ext cx="49834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Multilingual search, city-by-city launch and category catalogues.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A9371BAF-9BC1-4706-AC52-55CF4EED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5303520" cy="11704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250CD9C-4E5C-405B-9430-3A2808E9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67A8696-DD82-48F5-A8B4-75D93793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4325112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Advanced controls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FA63EA3-D68D-40D6-B5A9-1F507B34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4709159"/>
            <a:ext cx="49834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Multi-branch transfers, franchise reporting and configurable workflows.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FA37DF77-7FFB-4105-A0C6-60C441A8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206240"/>
            <a:ext cx="5303520" cy="11704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1A11EBB9-BB87-46AC-900D-118F93A3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206240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8F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CCB4F7EB-765A-444C-8E02-8667F1C4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25112"/>
            <a:ext cx="4983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AI where justified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E3C5C4DE-2774-4864-89C3-AFA628F9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09159"/>
            <a:ext cx="49834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A3545"/>
                </a:solidFill>
                <a:latin typeface="Aptos"/>
                <a:ea typeface="Aptos"/>
                <a:cs typeface="Aptos"/>
              </a:rPr>
              <a:t>Product matching, catalogue cleanup and forecasting after quality data accumulates.</a:t>
            </a:r>
          </a:p>
        </p:txBody>
      </p:sp>
    </p:spTree>
    <p:extLst>
      <p:ext uri="{BB962C8B-B14F-4D97-AF65-F5344CB8AC3E}">
        <p14:creationId xmlns:p14="http://schemas.microsoft.com/office/powerpoint/2010/main" val="19954785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C5B5751-C692-4880-9B46-971A03A8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Decisions to settle with collaborators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DACF47E-71CE-4609-8600-09B0781C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10972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These questions shape launch scope, integration cost and go-to-market.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4A67E72-CBFF-48A7-BF97-9B31651F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6583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1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6988B0-AAFF-41DB-AEDB-6E293461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4633D34-6657-4698-89A6-4D718740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CAAAF55-81A5-4248-94C4-BE988F03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1060704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2A3545"/>
                </a:solidFill>
                <a:latin typeface="Aptos"/>
                <a:ea typeface="Aptos"/>
                <a:cs typeface="Aptos"/>
              </a:defRPr>
            </a:pPr>
            <a:r>
              <a:t>Which locality or city should be the first launch area?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2A3545"/>
                </a:solidFill>
                <a:latin typeface="Aptos"/>
                <a:ea typeface="Aptos"/>
                <a:cs typeface="Aptos"/>
              </a:defRPr>
            </a:pPr>
            <a:r>
              <a:t>Which two or three categories should be piloted first?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2A3545"/>
                </a:solidFill>
                <a:latin typeface="Aptos"/>
                <a:ea typeface="Aptos"/>
                <a:cs typeface="Aptos"/>
              </a:defRPr>
            </a:pPr>
            <a:r>
              <a:t>Which desktop inventory systems are common among target merchants?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2A3545"/>
                </a:solidFill>
                <a:latin typeface="Aptos"/>
                <a:ea typeface="Aptos"/>
                <a:cs typeface="Aptos"/>
              </a:defRPr>
            </a:pPr>
            <a:r>
              <a:t>What freshness window is acceptable for each category and source type?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2A3545"/>
                </a:solidFill>
                <a:latin typeface="Aptos"/>
                <a:ea typeface="Aptos"/>
                <a:cs typeface="Aptos"/>
              </a:defRPr>
            </a:pPr>
            <a:r>
              <a:t>Will reservations be merchant-confirmed only, or can some shops auto-confirm?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2A3545"/>
                </a:solidFill>
                <a:latin typeface="Aptos"/>
                <a:ea typeface="Aptos"/>
                <a:cs typeface="Aptos"/>
              </a:defRPr>
            </a:pPr>
            <a:r>
              <a:t>What should be included in the free B2B tier, and what justifies paid plans?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2A3545"/>
                </a:solidFill>
                <a:latin typeface="Aptos"/>
                <a:ea typeface="Aptos"/>
                <a:cs typeface="Aptos"/>
              </a:defRPr>
            </a:pPr>
            <a:r>
              <a:t>Who will onboard merchants and help clean/import catalogues?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2A3545"/>
                </a:solidFill>
                <a:latin typeface="Aptos"/>
                <a:ea typeface="Aptos"/>
                <a:cs typeface="Aptos"/>
              </a:defRPr>
            </a:pPr>
            <a:r>
              <a:t>What regulatory, privacy and operational reviews are required for the first category?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0BD3D0E-E79A-4249-86AA-6426B23A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23560"/>
            <a:ext cx="10241280" cy="43891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>
            <a:solidFill>
              <a:srgbClr val="EFF4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31ED940-6C32-4B99-889E-96ED57DC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6967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 b="1">
                <a:solidFill>
                  <a:srgbClr val="142744"/>
                </a:solidFill>
                <a:latin typeface="Aptos"/>
                <a:ea typeface="Aptos"/>
                <a:cs typeface="Aptos"/>
              </a:rPr>
              <a:t>Peer review goal: identify the riskiest assumption and the smallest pilot that can test it.</a:t>
            </a:r>
          </a:p>
        </p:txBody>
      </p:sp>
    </p:spTree>
    <p:extLst>
      <p:ext uri="{BB962C8B-B14F-4D97-AF65-F5344CB8AC3E}">
        <p14:creationId xmlns:p14="http://schemas.microsoft.com/office/powerpoint/2010/main" val="146727156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4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BCE9762-6186-4338-8BC7-EBDF2AF5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1">
                <a:solidFill>
                  <a:srgbClr val="8EDCD8"/>
                </a:solidFill>
                <a:latin typeface="Aptos"/>
                <a:ea typeface="Aptos"/>
                <a:cs typeface="Aptos"/>
              </a:rPr>
              <a:t>THE PRODUCT IN ONE SENTENCE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0295BAC-3D00-4DB0-B89C-5E49B8FE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42416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cloud inventory SaaS platform connected to a local product-discovery marketplace.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4F2A58A-0C0A-42B9-9366-0759803D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46120"/>
            <a:ext cx="100584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0">
                <a:solidFill>
                  <a:srgbClr val="DCE7F2"/>
                </a:solidFill>
                <a:latin typeface="Aptos"/>
                <a:ea typeface="Aptos"/>
                <a:cs typeface="Aptos"/>
              </a:rPr>
              <a:t>Help merchants manage inventory more effectively—and help consumers find the products they need before travelling to a store.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2CD7430-95EB-415B-98D6-6A39A7A1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00600"/>
            <a:ext cx="10332720" cy="8686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33D5E"/>
          </a:solidFill>
          <a:ln xmlns:a="http://schemas.openxmlformats.org/drawingml/2006/main">
            <a:solidFill>
              <a:srgbClr val="233D5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DFDBEE9-B08C-421E-962A-D695C10D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010912"/>
            <a:ext cx="9875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trust and useful inventory operations first. Expand categories and commerce features after validation.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D582D2D-A856-40E4-B394-CF0B0B35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9601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LOCAL COMMERCE NETWORK • CONCEPT FOR DISCUSSION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C0B993E-FA70-4FCD-9215-9FFCE278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00" b="0">
                <a:solidFill>
                  <a:srgbClr val="647384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1772062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2026-10-19T04:08:11.9780000Z</dcterms:created>
  <dcterms:modified xsi:type="dcterms:W3CDTF">2026-10-19T04:08:11.9780000Z</dcterms:modified>
</coreProperties>
</file>